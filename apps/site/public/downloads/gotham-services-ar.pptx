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5121d459f54423" /><Relationship Type="http://schemas.openxmlformats.org/officeDocument/2006/relationships/extended-properties" Target="/docProps/app.xml" Id="R0548f8e5cb5b4d93" /><Relationship Type="http://schemas.openxmlformats.org/officeDocument/2006/relationships/officeDocument" Target="/ppt/presentation.xml" Id="R47f28a3dc82e47cf" /></Relationships>
</file>

<file path=ppt/presentation.xml><?xml version="1.0" encoding="utf-8"?>
<p:presentation xmlns:p="http://schemas.openxmlformats.org/presentationml/2006/main">
  <p:sldMasterIdLst>
    <p:sldMasterId xmlns:r="http://schemas.openxmlformats.org/officeDocument/2006/relationships" id="2147483648" r:id="Ra297de54fd704333"/>
  </p:sldMasterIdLst>
  <p:notesMasterIdLst>
    <p:notesMasterId xmlns:r="http://schemas.openxmlformats.org/officeDocument/2006/relationships" r:id="Ra8723bd2112544f9"/>
  </p:notesMasterIdLst>
  <p:sldIdLst>
    <p:sldId xmlns:r="http://schemas.openxmlformats.org/officeDocument/2006/relationships" id="256" r:id="R47da87de57454d88"/>
    <p:sldId xmlns:r="http://schemas.openxmlformats.org/officeDocument/2006/relationships" id="257" r:id="R90e02f1f56424c3b"/>
    <p:sldId xmlns:r="http://schemas.openxmlformats.org/officeDocument/2006/relationships" id="258" r:id="Re0e0adf238b74bb7"/>
    <p:sldId xmlns:r="http://schemas.openxmlformats.org/officeDocument/2006/relationships" id="259" r:id="R1f57bf7aef26451b"/>
    <p:sldId xmlns:r="http://schemas.openxmlformats.org/officeDocument/2006/relationships" id="260" r:id="R572e0d53208f4e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cb1c0389784934" /><Relationship Type="http://schemas.openxmlformats.org/officeDocument/2006/relationships/slideMaster" Target="/ppt/slideMasters/slideMaster1.xml" Id="Ra297de54fd704333" /><Relationship Type="http://schemas.openxmlformats.org/officeDocument/2006/relationships/notesMaster" Target="/ppt/notesMasters/notesMaster1.xml" Id="Ra8723bd2112544f9" /><Relationship Type="http://schemas.openxmlformats.org/officeDocument/2006/relationships/presProps" Target="/ppt/presProps.xml" Id="Rffa783e7a7da49d1" /><Relationship Type="http://schemas.openxmlformats.org/officeDocument/2006/relationships/tableStyles" Target="/ppt/tableStyles.xml" Id="R94cae369824f41b6" /><Relationship Type="http://schemas.openxmlformats.org/officeDocument/2006/relationships/slide" Target="/ppt/slides/slide1.xml" Id="R47da87de57454d88" /><Relationship Type="http://schemas.openxmlformats.org/officeDocument/2006/relationships/slide" Target="/ppt/slides/slide2.xml" Id="R90e02f1f56424c3b" /><Relationship Type="http://schemas.openxmlformats.org/officeDocument/2006/relationships/slide" Target="/ppt/slides/slide3.xml" Id="Re0e0adf238b74bb7" /><Relationship Type="http://schemas.openxmlformats.org/officeDocument/2006/relationships/slide" Target="/ppt/slides/slide4.xml" Id="R1f57bf7aef26451b" /><Relationship Type="http://schemas.openxmlformats.org/officeDocument/2006/relationships/slide" Target="/ppt/slides/slide5.xml" Id="R572e0d53208f4e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546daf2cfe40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5920eba63e49e0" /><Relationship Type="http://schemas.openxmlformats.org/officeDocument/2006/relationships/notesMaster" Target="/ppt/notesMasters/notesMaster1.xml" Id="R7518bb97cfd246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6284974e894bda" /><Relationship Type="http://schemas.openxmlformats.org/officeDocument/2006/relationships/notesMaster" Target="/ppt/notesMasters/notesMaster1.xml" Id="R9b48d5d824264f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acbef671804307" /><Relationship Type="http://schemas.openxmlformats.org/officeDocument/2006/relationships/notesMaster" Target="/ppt/notesMasters/notesMaster1.xml" Id="R0429599dff664c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8afa66eb1d4cc6" /><Relationship Type="http://schemas.openxmlformats.org/officeDocument/2006/relationships/notesMaster" Target="/ppt/notesMasters/notesMaster1.xml" Id="R720cd1c680df44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08b16865874737" /><Relationship Type="http://schemas.openxmlformats.org/officeDocument/2006/relationships/notesMaster" Target="/ppt/notesMasters/notesMaster1.xml" Id="Ra376ccca6c374c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Gotham Consult as an Accra-based business development and international projects consultancy. Explain that the next slides describe the services already published on the site. Cover photo is the existing Gotham website Airport City image.</a:t>
            </a:r>
          </a:p>
          <a:p xmlns:a="http://schemas.openxmlformats.org/drawingml/2006/main">
            <a:r>
              <a:t>Published service source: https://gothamconsult.com/about</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client’s sector and stage. Company setup, investment readiness, market entry and compliance support are delivered with professional partners where required. Do not imply guaranteed funding or regulatory approval.</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live website chatbot as an example if internet is available. Scope each automation with the client. Do not claim that a certified GRA integration, automatic bank feeds or a complete payroll system have already been delivered. Technology image comes from existing website assets.</a:t>
            </a:r>
          </a:p>
          <a:p xmlns:a="http://schemas.openxmlformats.org/drawingml/2006/main">
            <a:r>
              <a:t>Published service source: https://gothamconsult.com/services/ai</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remaining published service areas. Explain that specialist lawyers, geologists and engineers join projects where needed. Family support is practical coordination, not an unsupported medical-service promise. Forum image is an existing public website asset.</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slide on screen after the talk so the audience can scan. The first QR opens the public website, including services, forums and the chatbot. The second opens the LinkedIn company page linked in the website footer. Invite people to follow the page in LinkedIn; scanning alone does not follow an account. Phone: +233 55 041 6627. Email: info@gothamconsult.com.</a:t>
            </a:r>
          </a:p>
          <a:p xmlns:a="http://schemas.openxmlformats.org/drawingml/2006/main">
            <a:r>
              <a:t>Published service source: https://gothamconsult.com/</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31380d48094a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f25186e8164403" /><Relationship Type="http://schemas.openxmlformats.org/officeDocument/2006/relationships/slideLayout" Target="/ppt/slideLayouts/slideLayout1.xml" Id="R4ea7a30674c945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a7a30674c945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aa007229184436" /><Relationship Type="http://schemas.openxmlformats.org/officeDocument/2006/relationships/image" Target="/ppt/media/image.png" Id="R1531b956b4a84802" /><Relationship Type="http://schemas.openxmlformats.org/officeDocument/2006/relationships/image" Target="/ppt/media/image2.png" Id="R8b401d37f1764a1e" /><Relationship Type="http://schemas.openxmlformats.org/officeDocument/2006/relationships/notesSlide" Target="/ppt/notesSlides/notesSlide1.xml" Id="R647eb8b11e3749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04f12a3e294283" /><Relationship Type="http://schemas.openxmlformats.org/officeDocument/2006/relationships/image" Target="/ppt/media/image3.png" Id="R55e8b078bc4c4768" /><Relationship Type="http://schemas.openxmlformats.org/officeDocument/2006/relationships/notesSlide" Target="/ppt/notesSlides/notesSlide2.xml" Id="R7bbaf9427d1f4d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ce2068d0304727" /><Relationship Type="http://schemas.openxmlformats.org/officeDocument/2006/relationships/image" Target="/ppt/media/image4.png" Id="R01da75e4375b4c71" /><Relationship Type="http://schemas.openxmlformats.org/officeDocument/2006/relationships/notesSlide" Target="/ppt/notesSlides/notesSlide3.xml" Id="R0920e25544b047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52542cec004b62" /><Relationship Type="http://schemas.openxmlformats.org/officeDocument/2006/relationships/image" Target="/ppt/media/image5.png" Id="R52a2a4d54ba84fab" /><Relationship Type="http://schemas.openxmlformats.org/officeDocument/2006/relationships/notesSlide" Target="/ppt/notesSlides/notesSlide4.xml" Id="R17142dc5334b44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2f67d16d3f4b31" /><Relationship Type="http://schemas.openxmlformats.org/officeDocument/2006/relationships/image" Target="/ppt/media/image6.png" Id="R6bcf3e5ef8f845ce" /><Relationship Type="http://schemas.openxmlformats.org/officeDocument/2006/relationships/image" Target="/ppt/media/image7.png" Id="Red842260e93d492b" /><Relationship Type="http://schemas.openxmlformats.org/officeDocument/2006/relationships/image" Target="/ppt/media/image8.png" Id="Rc1962e854c234421" /><Relationship Type="http://schemas.openxmlformats.org/officeDocument/2006/relationships/notesSlide" Target="/ppt/notesSlides/notesSlide5.xml" Id="Ra918caa2b6ea4b77" /></Relationships>
</file>

<file path=ppt/slides/slide1.xml><?xml version="1.0" encoding="utf-8"?>
<ns0:sld xmlns:a="http://schemas.openxmlformats.org/drawingml/2006/main" xmlns:ns0="http://schemas.openxmlformats.org/presentationml/2006/main" xmlns:ns2="http://schemas.openxmlformats.org/officeDocument/2006/relationships" xmlns:ns3="http://schemas.microsoft.com/office/drawing/2014/main" xmlns:ns4="http://schemas.microsoft.com/office/powerpoint/2010/main">
  <ns0:cSld>
    <ns0:bg>
      <ns0:bgPr>
        <a:solidFill>
          <a:srgbClr val="101C2E"/>
        </a:solidFill>
      </ns0:bgPr>
    </ns0:bg>
    <ns0:spTree>
      <ns0:nvGrpSpPr>
        <ns0:cNvPr id="1" name=""/>
        <ns0:cNvGrpSpPr/>
        <ns0:nvPr/>
      </ns0:nvGrpSpPr>
      <ns0:grpSpPr>
        <a:xfrm/>
      </ns0:grpSpPr>
      <ns0:pic>
        <ns0:nvPicPr>
          <ns0:cNvPr id="7" name=""/>
          <ns0:cNvPicPr>
            <a:picLocks noChangeAspect="1"/>
          </ns0:cNvPicPr>
          <ns0:nvPr/>
        </ns0:nvPicPr>
        <ns0:blipFill>
          <a:blip ns2:embed="R1531b956b4a84802"/>
          <a:srcRect l="23958" t="0" r="23958" b="0"/>
          <a:stretch>
            <a:fillRect l="0" t="0" r="0" b="0"/>
          </a:stretch>
        </ns0:blipFill>
        <ns0:spPr>
          <a:xfrm>
            <a:off x="7429500" y="0"/>
            <a:ext cx="4762500" cy="6858000"/>
          </a:xfrm>
          <a:prstGeom prst="rect">
            <a:avLst/>
          </a:prstGeom>
        </ns0:spPr>
      </ns0:pic>
      <ns0:pic>
        <ns0:nvPicPr>
          <ns0:cNvPr id="8" name=""/>
          <ns0:cNvPicPr>
            <a:picLocks noChangeAspect="1"/>
          </ns0:cNvPicPr>
          <ns0:nvPr/>
        </ns0:nvPicPr>
        <ns0:blipFill>
          <a:blip ns2:embed="R8b401d37f1764a1e"/>
          <a:stretch/>
        </ns0:blipFill>
        <ns0:spPr>
          <a:xfrm>
            <a:off x="620390" y="381000"/>
            <a:ext cx="530870" cy="552450"/>
          </a:xfrm>
          <a:prstGeom prst="rect">
            <a:avLst/>
          </a:prstGeom>
        </ns0:spPr>
      </ns0:pic>
      <ns0:sp>
        <ns0:nvSpPr>
          <ns0:cNvPr id="3" name="">
            <a:extLst>
              <a:ext uri="{FF2B5EF4-FFF2-40B4-BE49-F238E27FC236}">
                <ns3:creationId id="{88896631-286B-4892-9632-2206EC41825B}"/>
              </a:ext>
            </a:extLst>
          </ns0:cNvPr>
          <ns0:cNvSpPr>
            <a:spLocks noGrp="1"/>
          </ns0:cNvSpPr>
          <ns0:nvPr/>
        </ns0:nvSpPr>
        <ns0:spPr>
          <a:xfrm>
            <a:off x="1333500" y="476250"/>
            <a:ext cx="6191250" cy="381000"/>
          </a:xfrm>
          <a:prstGeom prst="rect">
            <a:avLst/>
          </a:prstGeom>
          <a:noFill/>
          <a:ln w="0">
            <a:noFill/>
          </a:ln>
        </ns0:spPr>
        <ns0: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ns0:txBody>
      </ns0:sp>
      <ns0:sp>
        <ns0:nvSpPr>
          <ns0:cNvPr id="4" name="">
            <a:extLst>
              <a:ext uri="{FF2B5EF4-FFF2-40B4-BE49-F238E27FC236}">
                <ns3:creationId id="{FF775F3F-F428-4B68-A446-3346DCC30672}"/>
              </a:ext>
            </a:extLst>
          </ns0:cNvPr>
          <ns0:cNvSpPr>
            <a:spLocks noGrp="1"/>
          </ns0:cNvSpPr>
          <ns0:nvPr/>
        </ns0:nvSpPr>
        <ns0:spPr>
          <a:xfrm>
            <a:off x="609600" y="2009775"/>
            <a:ext cx="6477000" cy="2190750"/>
          </a:xfrm>
          <a:prstGeom prst="rect">
            <a:avLst/>
          </a:prstGeom>
          <a:noFill/>
          <a:ln w="0">
            <a:noFill/>
          </a:ln>
        </ns0:spPr>
        <ns0:txBody>
          <a:bodyPr>
            <a:noAutofit/>
          </a:bodyPr>
          <a:lstStyle/>
          <a:p>
            <a:pPr algn="r" rtl="1">
              <a:defRPr sz="5250" b="1">
                <a:solidFill>
                  <a:srgbClr val="FFFFFF"/>
                </a:solidFill>
                <a:latin typeface="Geeza Pro"/>
                <a:ea typeface="Geeza Pro"/>
                <a:cs typeface="Geeza Pro"/>
              </a:defRPr>
            </a:pPr>
            <a:r>
              <a:rPr sz="5250" b="1">
                <a:solidFill>
                  <a:srgbClr val="FFFFFF"/>
                </a:solidFill>
                <a:latin typeface="Geeza Pro"/>
                <a:ea typeface="Geeza Pro"/>
                <a:cs typeface="Geeza Pro"/>
              </a:rPr>
              <a:t>ابنوا شراكات</a:t>
            </a:r>
          </a:p>
          <a:p>
            <a:pPr algn="r" rtl="1">
              <a:defRPr sz="5250" b="1">
                <a:solidFill>
                  <a:srgbClr val="FFFFFF"/>
                </a:solidFill>
                <a:latin typeface="Geeza Pro"/>
                <a:ea typeface="Geeza Pro"/>
                <a:cs typeface="Geeza Pro"/>
              </a:defRPr>
            </a:pPr>
            <a:r>
              <a:rPr sz="5250" b="1">
                <a:solidFill>
                  <a:srgbClr val="FFFFFF"/>
                </a:solidFill>
                <a:latin typeface="Geeza Pro"/>
                <a:ea typeface="Geeza Pro"/>
                <a:cs typeface="Geeza Pro"/>
              </a:rPr>
              <a:t>في غانا</a:t>
            </a:r>
          </a:p>
        </ns0:txBody>
      </ns0:sp>
      <ns0:sp>
        <ns0:nvSpPr>
          <ns0:cNvPr id="5" name="">
            <a:extLst>
              <a:ext uri="{FF2B5EF4-FFF2-40B4-BE49-F238E27FC236}">
                <ns3:creationId id="{2CCEF89B-3DCC-4F1C-B1C5-AE764F60A2EB}"/>
              </a:ext>
            </a:extLst>
          </ns0:cNvPr>
          <ns0:cNvSpPr>
            <a:spLocks noGrp="1"/>
          </ns0:cNvSpPr>
          <ns0:nvPr/>
        </ns0:nvSpPr>
        <ns0:spPr>
          <a:xfrm>
            <a:off x="628650" y="4657725"/>
            <a:ext cx="6286500" cy="952500"/>
          </a:xfrm>
          <a:prstGeom prst="rect">
            <a:avLst/>
          </a:prstGeom>
          <a:noFill/>
          <a:ln w="0">
            <a:noFill/>
          </a:ln>
        </ns0:spPr>
        <ns0:txBody>
          <a:bodyPr>
            <a:noAutofit/>
          </a:bodyPr>
          <a:lstStyle/>
          <a:p>
            <a:pPr algn="r" rtl="1">
              <a:defRPr sz="2475" b="0">
                <a:solidFill>
                  <a:srgbClr val="E4E8EF"/>
                </a:solidFill>
                <a:latin typeface="Geeza Pro"/>
                <a:ea typeface="Geeza Pro"/>
                <a:cs typeface="Geeza Pro"/>
              </a:defRPr>
            </a:pPr>
            <a:r>
              <a:rPr sz="2475" b="0">
                <a:solidFill>
                  <a:srgbClr val="E4E8EF"/>
                </a:solidFill>
                <a:latin typeface="Geeza Pro"/>
                <a:ea typeface="Geeza Pro"/>
                <a:cs typeface="Geeza Pro"/>
              </a:rPr>
              <a:t>استشارات الأعمال والتكنولوجيا</a:t>
            </a:r>
          </a:p>
          <a:p>
            <a:pPr algn="r" rtl="1">
              <a:defRPr sz="2475" b="0">
                <a:solidFill>
                  <a:srgbClr val="E4E8EF"/>
                </a:solidFill>
                <a:latin typeface="Geeza Pro"/>
                <a:ea typeface="Geeza Pro"/>
                <a:cs typeface="Geeza Pro"/>
              </a:defRPr>
            </a:pPr>
            <a:r>
              <a:rPr sz="2475" b="0">
                <a:solidFill>
                  <a:srgbClr val="E4E8EF"/>
                </a:solidFill>
                <a:latin typeface="Geeza Pro"/>
                <a:ea typeface="Geeza Pro"/>
                <a:cs typeface="Geeza Pro"/>
              </a:rPr>
              <a:t>والمشاريع الدولية</a:t>
            </a:r>
          </a:p>
        </ns0:txBody>
      </ns0:sp>
      <ns0:sp>
        <ns0:nvSpPr>
          <ns0:cNvPr id="6" name="">
            <a:extLst>
              <a:ext uri="{FF2B5EF4-FFF2-40B4-BE49-F238E27FC236}">
                <ns3:creationId id="{61048DA7-C86B-4A77-9A84-AFDCB5253956}"/>
              </a:ext>
            </a:extLst>
          </ns0:cNvPr>
          <ns0:cNvSpPr>
            <a:spLocks noGrp="1"/>
          </ns0:cNvSpPr>
          <ns0:nvPr/>
        </ns0:nvSpPr>
        <ns0:spPr>
          <a:xfrm>
            <a:off x="628650" y="6124575"/>
            <a:ext cx="6477000" cy="381000"/>
          </a:xfrm>
          <a:prstGeom prst="rect">
            <a:avLst/>
          </a:prstGeom>
          <a:noFill/>
          <a:ln w="0">
            <a:noFill/>
          </a:ln>
        </ns0:spPr>
        <ns0:txBody>
          <a:bodyPr>
            <a:noAutofit/>
          </a:bodyPr>
          <a:lstStyle/>
          <a:p>
            <a:pPr>
              <a:defRPr sz="2100" b="0">
                <a:solidFill>
                  <a:srgbClr val="C59946"/>
                </a:solidFill>
                <a:latin typeface="Arial"/>
                <a:ea typeface="Arial"/>
                <a:cs typeface="Arial"/>
              </a:defRPr>
            </a:pPr>
            <a:r>
              <a:rPr sz="2100" b="0">
                <a:solidFill>
                  <a:srgbClr val="C59946"/>
                </a:solidFill>
                <a:latin typeface="Arial"/>
                <a:ea typeface="Arial"/>
                <a:cs typeface="Arial"/>
              </a:rPr>
              <a:t>gothamconsult.com</a:t>
            </a:r>
          </a:p>
        </ns0:txBody>
      </ns0:sp>
    </ns0:spTree>
    <ns0:extLst>
      <ns0:ext uri="{BB962C8B-B14F-4D97-AF65-F5344CB8AC3E}">
        <ns4:creationId val="185805688"/>
      </ns0:ext>
    </ns0:extLst>
  </ns0:cSld>
</ns0:sld>
</file>

<file path=ppt/slides/slide2.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7F4"/>
        </a:solidFill>
      </ns0:bgPr>
    </ns0:bg>
    <ns0:spTree>
      <ns0:nvGrpSpPr>
        <ns0:cNvPr id="1" name=""/>
        <ns0:cNvGrpSpPr/>
        <ns0:nvPr/>
      </ns0:nvGrpSpPr>
      <ns0:grpSpPr>
        <a:xfrm/>
      </ns0:grpSpPr>
      <ns0:sp>
        <ns0:nvSpPr>
          <ns0:cNvPr id="12" name="">
            <a:extLst>
              <a:ext uri="{FF2B5EF4-FFF2-40B4-BE49-F238E27FC236}">
                <ns2:creationId id="{D9780116-E012-4450-830C-312BF92C2DB1}"/>
              </a:ext>
            </a:extLst>
          </ns0:cNvPr>
          <ns0:cNvSpPr>
            <a:spLocks noGrp="1"/>
          </ns0:cNvSpPr>
          <ns0:nvPr/>
        </ns0:nvSpPr>
        <ns0:spPr>
          <a:xfrm>
            <a:off x="609600" y="476250"/>
            <a:ext cx="6191250" cy="381000"/>
          </a:xfrm>
          <a:prstGeom prst="rect">
            <a:avLst/>
          </a:prstGeom>
          <a:noFill/>
          <a:ln w="0">
            <a:noFill/>
          </a:ln>
        </ns0:spPr>
        <ns0:txBody>
          <a:bodyPr>
            <a:noAutofit/>
          </a:bodyPr>
          <a:lstStyle/>
          <a:p>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ns0:txBody>
      </ns0:sp>
      <ns0:sp>
        <ns0:nvSpPr>
          <ns0:cNvPr id="2" name="">
            <a:extLst>
              <a:ext uri="{FF2B5EF4-FFF2-40B4-BE49-F238E27FC236}">
                <ns2:creationId id="{352FBBFA-50E8-4301-AB8A-5A17DF9A0453}"/>
              </a:ext>
            </a:extLst>
          </ns0:cNvPr>
          <ns0:cNvSpPr>
            <a:spLocks noGrp="1"/>
          </ns0:cNvSpPr>
          <ns0:nvPr/>
        </ns0:nvSpPr>
        <ns0:spPr>
          <a:xfrm>
            <a:off x="609600" y="1314450"/>
            <a:ext cx="10906125" cy="857250"/>
          </a:xfrm>
          <a:prstGeom prst="rect">
            <a:avLst/>
          </a:prstGeom>
          <a:noFill/>
          <a:ln w="0">
            <a:noFill/>
          </a:ln>
        </ns0:spPr>
        <ns0:txBody>
          <a:bodyPr>
            <a:noAutofit/>
          </a:bodyPr>
          <a:lstStyle/>
          <a:p>
            <a:pPr algn="r" rtl="1">
              <a:defRPr sz="4200" b="1">
                <a:solidFill>
                  <a:srgbClr val="101C2E"/>
                </a:solidFill>
                <a:latin typeface="Geeza Pro"/>
                <a:ea typeface="Geeza Pro"/>
                <a:cs typeface="Geeza Pro"/>
              </a:defRPr>
            </a:pPr>
            <a:r>
              <a:rPr sz="4200" b="1">
                <a:solidFill>
                  <a:srgbClr val="101C2E"/>
                </a:solidFill>
                <a:latin typeface="Geeza Pro"/>
                <a:ea typeface="Geeza Pro"/>
                <a:cs typeface="Geeza Pro"/>
              </a:rPr>
              <a:t>الأعمال والاستثمار</a:t>
            </a:r>
          </a:p>
        </ns0:txBody>
      </ns0:sp>
      <ns0:sp>
        <ns0:nvSpPr>
          <ns0:cNvPr id="3" name="">
            <a:extLst>
              <a:ext uri="{FF2B5EF4-FFF2-40B4-BE49-F238E27FC236}">
                <ns2:creationId id="{7924EC07-456B-4F71-B74F-CFD0324480AD}"/>
              </a:ext>
            </a:extLst>
          </ns0:cNvPr>
          <ns0:cNvSpPr>
            <a:spLocks noGrp="1"/>
          </ns0:cNvSpPr>
          <ns0:nvPr/>
        </ns0:nvSpPr>
        <ns0:spPr>
          <a:xfrm>
            <a:off x="609600" y="26479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01</a:t>
            </a:r>
          </a:p>
        </ns0:txBody>
      </ns0:sp>
      <ns0:sp>
        <ns0:nvSpPr>
          <ns0:cNvPr id="4" name="">
            <a:extLst>
              <a:ext uri="{FF2B5EF4-FFF2-40B4-BE49-F238E27FC236}">
                <ns2:creationId id="{CD5E6111-1CC5-4C99-BC37-7EEA0FC09DB5}"/>
              </a:ext>
            </a:extLst>
          </ns0:cNvPr>
          <ns0:cNvSpPr>
            <a:spLocks noGrp="1"/>
          </ns0:cNvSpPr>
          <ns0:nvPr/>
        </ns0:nvSpPr>
        <ns0:spPr>
          <a:xfrm>
            <a:off x="1362075" y="25812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تأسيس الشركات ودخول السوق</a:t>
            </a:r>
          </a:p>
        </ns0:txBody>
      </ns0:sp>
      <ns0:sp>
        <ns0:nvSpPr>
          <ns0:cNvPr id="5" name="">
            <a:extLst>
              <a:ext uri="{FF2B5EF4-FFF2-40B4-BE49-F238E27FC236}">
                <ns2:creationId id="{9DB8225D-74B2-47AF-A58C-DC27B7D7612A}"/>
              </a:ext>
            </a:extLst>
          </ns0:cNvPr>
          <ns0:cNvSpPr>
            <a:spLocks noGrp="1"/>
          </ns0:cNvSpPr>
          <ns0:nvPr/>
        </ns0:nvSpPr>
        <ns0:spPr>
          <a:xfrm>
            <a:off x="609600" y="34861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02</a:t>
            </a:r>
          </a:p>
        </ns0:txBody>
      </ns0:sp>
      <ns0:sp>
        <ns0:nvSpPr>
          <ns0:cNvPr id="6" name="">
            <a:extLst>
              <a:ext uri="{FF2B5EF4-FFF2-40B4-BE49-F238E27FC236}">
                <ns2:creationId id="{8D2D3F8B-2D59-48B8-AB97-8A0DCDF6EAA5}"/>
              </a:ext>
            </a:extLst>
          </ns0:cNvPr>
          <ns0:cNvSpPr>
            <a:spLocks noGrp="1"/>
          </ns0:cNvSpPr>
          <ns0:nvPr/>
        </ns0:nvSpPr>
        <ns0:spPr>
          <a:xfrm>
            <a:off x="1362075" y="34194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خطط الأعمال والنماذج المالية</a:t>
            </a:r>
          </a:p>
        </ns0:txBody>
      </ns0:sp>
      <ns0:sp>
        <ns0:nvSpPr>
          <ns0:cNvPr id="7" name="">
            <a:extLst>
              <a:ext uri="{FF2B5EF4-FFF2-40B4-BE49-F238E27FC236}">
                <ns2:creationId id="{D01AF373-9C86-4CAC-A2DA-3E27456E7D9A}"/>
              </a:ext>
            </a:extLst>
          </ns0:cNvPr>
          <ns0:cNvSpPr>
            <a:spLocks noGrp="1"/>
          </ns0:cNvSpPr>
          <ns0:nvPr/>
        </ns0:nvSpPr>
        <ns0:spPr>
          <a:xfrm>
            <a:off x="609600" y="43243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03</a:t>
            </a:r>
          </a:p>
        </ns0:txBody>
      </ns0:sp>
      <ns0:sp>
        <ns0:nvSpPr>
          <ns0:cNvPr id="8" name="">
            <a:extLst>
              <a:ext uri="{FF2B5EF4-FFF2-40B4-BE49-F238E27FC236}">
                <ns2:creationId id="{DEAD0A4A-2A9D-4C26-A862-4DD4EDF491E7}"/>
              </a:ext>
            </a:extLst>
          </ns0:cNvPr>
          <ns0:cNvSpPr>
            <a:spLocks noGrp="1"/>
          </ns0:cNvSpPr>
          <ns0:nvPr/>
        </ns0:nvSpPr>
        <ns0:spPr>
          <a:xfrm>
            <a:off x="1362075" y="42576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العناية الواجبة للشركاء والمشاريع</a:t>
            </a:r>
          </a:p>
        </ns0:txBody>
      </ns0:sp>
      <ns0:sp>
        <ns0:nvSpPr>
          <ns0:cNvPr id="9" name="">
            <a:extLst>
              <a:ext uri="{FF2B5EF4-FFF2-40B4-BE49-F238E27FC236}">
                <ns2:creationId id="{AF8C9406-2611-4C5E-A1C0-56F34D97E983}"/>
              </a:ext>
            </a:extLst>
          </ns0:cNvPr>
          <ns0:cNvSpPr>
            <a:spLocks noGrp="1"/>
          </ns0:cNvSpPr>
          <ns0:nvPr/>
        </ns0:nvSpPr>
        <ns0:spPr>
          <a:xfrm>
            <a:off x="609600" y="51625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04</a:t>
            </a:r>
          </a:p>
        </ns0:txBody>
      </ns0:sp>
      <ns0:sp>
        <ns0:nvSpPr>
          <ns0:cNvPr id="10" name="">
            <a:extLst>
              <a:ext uri="{FF2B5EF4-FFF2-40B4-BE49-F238E27FC236}">
                <ns2:creationId id="{7A8D2010-C1AB-4683-91E7-2582DF10A99D}"/>
              </a:ext>
            </a:extLst>
          </ns0:cNvPr>
          <ns0:cNvSpPr>
            <a:spLocks noGrp="1"/>
          </ns0:cNvSpPr>
          <ns0:nvPr/>
        </ns0:nvSpPr>
        <ns0:spPr>
          <a:xfrm>
            <a:off x="1362075" y="50958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دعم الامتثال والحوكمة البيئية والاجتماعية والمؤسسية</a:t>
            </a:r>
          </a:p>
        </ns0:txBody>
      </ns0:sp>
      <ns0:pic>
        <ns0:nvPicPr>
          <ns0:cNvPr id="22" name=""/>
          <ns0:cNvPicPr>
            <a:picLocks noChangeAspect="1"/>
          </ns0:cNvPicPr>
          <ns0:nvPr/>
        </ns0:nvPicPr>
        <ns0:blipFill>
          <a:blip ns3:embed="R55e8b078bc4c4768"/>
          <a:srcRect l="18815" t="0" r="18815" b="0"/>
          <a:stretch>
            <a:fillRect l="0" t="0" r="0" b="0"/>
          </a:stretch>
        </ns0:blipFill>
        <ns0:spPr>
          <a:xfrm>
            <a:off x="8524875" y="2476500"/>
            <a:ext cx="3057525" cy="3676650"/>
          </a:xfrm>
          <a:prstGeom prst="rect">
            <a:avLst/>
          </a:prstGeom>
        </ns0:spPr>
      </ns0:pic>
    </ns0:spTree>
    <ns0:extLst>
      <ns0:ext uri="{BB962C8B-B14F-4D97-AF65-F5344CB8AC3E}">
        <ns4:creationId val="2095506685"/>
      </ns0:ext>
    </ns0:extLst>
  </ns0:cSld>
</ns0:sld>
</file>

<file path=ppt/slides/slide3.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7F4"/>
        </a:solidFill>
      </ns0:bgPr>
    </ns0:bg>
    <ns0:spTree>
      <ns0:nvGrpSpPr>
        <ns0:cNvPr id="1" name=""/>
        <ns0:cNvGrpSpPr/>
        <ns0:nvPr/>
      </ns0:nvGrpSpPr>
      <ns0:grpSpPr>
        <a:xfrm/>
      </ns0:grpSpPr>
      <ns0:sp>
        <ns0:nvSpPr>
          <ns0:cNvPr id="12" name="">
            <a:extLst>
              <a:ext uri="{FF2B5EF4-FFF2-40B4-BE49-F238E27FC236}">
                <ns2:creationId id="{21635372-8D96-4262-BBDC-7E4D18C79DA4}"/>
              </a:ext>
            </a:extLst>
          </ns0:cNvPr>
          <ns0:cNvSpPr>
            <a:spLocks noGrp="1"/>
          </ns0:cNvSpPr>
          <ns0:nvPr/>
        </ns0:nvSpPr>
        <ns0:spPr>
          <a:xfrm>
            <a:off x="609600" y="476250"/>
            <a:ext cx="6191250" cy="381000"/>
          </a:xfrm>
          <a:prstGeom prst="rect">
            <a:avLst/>
          </a:prstGeom>
          <a:noFill/>
          <a:ln w="0">
            <a:noFill/>
          </a:ln>
        </ns0:spPr>
        <ns0:txBody>
          <a:bodyPr>
            <a:noAutofit/>
          </a:bodyPr>
          <a:lstStyle/>
          <a:p>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ns0:txBody>
      </ns0:sp>
      <ns0:sp>
        <ns0:nvSpPr>
          <ns0:cNvPr id="2" name="">
            <a:extLst>
              <a:ext uri="{FF2B5EF4-FFF2-40B4-BE49-F238E27FC236}">
                <ns2:creationId id="{65DF3E2B-AA15-45F2-9969-17DD1C7C2448}"/>
              </a:ext>
            </a:extLst>
          </ns0:cNvPr>
          <ns0:cNvSpPr>
            <a:spLocks noGrp="1"/>
          </ns0:cNvSpPr>
          <ns0:nvPr/>
        </ns0:nvSpPr>
        <ns0:spPr>
          <a:xfrm>
            <a:off x="609600" y="1314450"/>
            <a:ext cx="10906125" cy="857250"/>
          </a:xfrm>
          <a:prstGeom prst="rect">
            <a:avLst/>
          </a:prstGeom>
          <a:noFill/>
          <a:ln w="0">
            <a:noFill/>
          </a:ln>
        </ns0:spPr>
        <ns0:txBody>
          <a:bodyPr>
            <a:noAutofit/>
          </a:bodyPr>
          <a:lstStyle/>
          <a:p>
            <a:pPr algn="r" rtl="1">
              <a:defRPr sz="4200" b="1">
                <a:solidFill>
                  <a:srgbClr val="101C2E"/>
                </a:solidFill>
                <a:latin typeface="Geeza Pro"/>
                <a:ea typeface="Geeza Pro"/>
                <a:cs typeface="Geeza Pro"/>
              </a:defRPr>
            </a:pPr>
            <a:r>
              <a:rPr sz="4200" b="1">
                <a:solidFill>
                  <a:srgbClr val="101C2E"/>
                </a:solidFill>
                <a:latin typeface="Geeza Pro"/>
                <a:ea typeface="Geeza Pro"/>
                <a:cs typeface="Geeza Pro"/>
              </a:rPr>
              <a:t>الذكاء الاصطناعي والخدمات الرقمية والإبداعية</a:t>
            </a:r>
          </a:p>
        </ns0:txBody>
      </ns0:sp>
      <ns0:sp>
        <ns0:nvSpPr>
          <ns0:cNvPr id="3" name="">
            <a:extLst>
              <a:ext uri="{FF2B5EF4-FFF2-40B4-BE49-F238E27FC236}">
                <ns2:creationId id="{40697AC4-11C3-4FD5-A1E6-B36463550DC1}"/>
              </a:ext>
            </a:extLst>
          </ns0:cNvPr>
          <ns0:cNvSpPr>
            <a:spLocks noGrp="1"/>
          </ns0:cNvSpPr>
          <ns0:nvPr/>
        </ns0:nvSpPr>
        <ns0:spPr>
          <a:xfrm>
            <a:off x="609600" y="26479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01</a:t>
            </a:r>
          </a:p>
        </ns0:txBody>
      </ns0:sp>
      <ns0:sp>
        <ns0:nvSpPr>
          <ns0:cNvPr id="4" name="">
            <a:extLst>
              <a:ext uri="{FF2B5EF4-FFF2-40B4-BE49-F238E27FC236}">
                <ns2:creationId id="{741E8379-D8A5-4187-96B0-6BA7C86B9902}"/>
              </a:ext>
            </a:extLst>
          </ns0:cNvPr>
          <ns0:cNvSpPr>
            <a:spLocks noGrp="1"/>
          </ns0:cNvSpPr>
          <ns0:nvPr/>
        </ns0:nvSpPr>
        <ns0:spPr>
          <a:xfrm>
            <a:off x="1362075" y="25812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تقييم الجاهزية للذكاء الاصطناعي وتدريب الموظفين</a:t>
            </a:r>
          </a:p>
        </ns0:txBody>
      </ns0:sp>
      <ns0:sp>
        <ns0:nvSpPr>
          <ns0:cNvPr id="5" name="">
            <a:extLst>
              <a:ext uri="{FF2B5EF4-FFF2-40B4-BE49-F238E27FC236}">
                <ns2:creationId id="{D7CBE3C5-94FB-4D7E-BD0A-C28DDC7065D1}"/>
              </a:ext>
            </a:extLst>
          </ns0:cNvPr>
          <ns0:cNvSpPr>
            <a:spLocks noGrp="1"/>
          </ns0:cNvSpPr>
          <ns0:nvPr/>
        </ns0:nvSpPr>
        <ns0:spPr>
          <a:xfrm>
            <a:off x="609600" y="34861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02</a:t>
            </a:r>
          </a:p>
        </ns0:txBody>
      </ns0:sp>
      <ns0:sp>
        <ns0:nvSpPr>
          <ns0:cNvPr id="6" name="">
            <a:extLst>
              <a:ext uri="{FF2B5EF4-FFF2-40B4-BE49-F238E27FC236}">
                <ns2:creationId id="{4C52F546-EB48-425B-9F21-B0032DFB0157}"/>
              </a:ext>
            </a:extLst>
          </ns0:cNvPr>
          <ns0:cNvSpPr>
            <a:spLocks noGrp="1"/>
          </ns0:cNvSpPr>
          <ns0:nvPr/>
        </ns0:nvSpPr>
        <ns0:spPr>
          <a:xfrm>
            <a:off x="1362075" y="34194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أتمتة الشؤون المالية وإعداد التقارير</a:t>
            </a:r>
          </a:p>
        </ns0:txBody>
      </ns0:sp>
      <ns0:sp>
        <ns0:nvSpPr>
          <ns0:cNvPr id="7" name="">
            <a:extLst>
              <a:ext uri="{FF2B5EF4-FFF2-40B4-BE49-F238E27FC236}">
                <ns2:creationId id="{5091CC6E-BED3-4AB9-A871-D1FDF9070A66}"/>
              </a:ext>
            </a:extLst>
          </ns0:cNvPr>
          <ns0:cNvSpPr>
            <a:spLocks noGrp="1"/>
          </ns0:cNvSpPr>
          <ns0:nvPr/>
        </ns0:nvSpPr>
        <ns0:spPr>
          <a:xfrm>
            <a:off x="609600" y="43243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03</a:t>
            </a:r>
          </a:p>
        </ns0:txBody>
      </ns0:sp>
      <ns0:sp>
        <ns0:nvSpPr>
          <ns0:cNvPr id="8" name="">
            <a:extLst>
              <a:ext uri="{FF2B5EF4-FFF2-40B4-BE49-F238E27FC236}">
                <ns2:creationId id="{14FA96D7-3771-4BE1-A300-F09B7C670153}"/>
              </a:ext>
            </a:extLst>
          </ns0:cNvPr>
          <ns0:cNvSpPr>
            <a:spLocks noGrp="1"/>
          </ns0:cNvSpPr>
          <ns0:nvPr/>
        </ns0:nvSpPr>
        <ns0:spPr>
          <a:xfrm>
            <a:off x="1362075" y="42576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المواقع الإلكترونية والتطبيقات والاستضافة المُدارة</a:t>
            </a:r>
          </a:p>
        </ns0:txBody>
      </ns0:sp>
      <ns0:sp>
        <ns0:nvSpPr>
          <ns0:cNvPr id="9" name="">
            <a:extLst>
              <a:ext uri="{FF2B5EF4-FFF2-40B4-BE49-F238E27FC236}">
                <ns2:creationId id="{48D9A31C-CBAB-43C4-A6E4-583F13A783FB}"/>
              </a:ext>
            </a:extLst>
          </ns0:cNvPr>
          <ns0:cNvSpPr>
            <a:spLocks noGrp="1"/>
          </ns0:cNvSpPr>
          <ns0:nvPr/>
        </ns0:nvSpPr>
        <ns0:spPr>
          <a:xfrm>
            <a:off x="609600" y="51625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04</a:t>
            </a:r>
          </a:p>
        </ns0:txBody>
      </ns0:sp>
      <ns0:sp>
        <ns0:nvSpPr>
          <ns0:cNvPr id="10" name="">
            <a:extLst>
              <a:ext uri="{FF2B5EF4-FFF2-40B4-BE49-F238E27FC236}">
                <ns2:creationId id="{72803EC7-D799-47CD-8AD7-7DA1EBEEA211}"/>
              </a:ext>
            </a:extLst>
          </ns0:cNvPr>
          <ns0:cNvSpPr>
            <a:spLocks noGrp="1"/>
          </ns0:cNvSpPr>
          <ns0:nvPr/>
        </ns0:nvSpPr>
        <ns0:spPr>
          <a:xfrm>
            <a:off x="1362075" y="50958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الأناشيد الإعلانية والإعلانات والتعليق الصوتي</a:t>
            </a:r>
          </a:p>
        </ns0:txBody>
      </ns0:sp>
      <ns0:pic>
        <ns0:nvPicPr>
          <ns0:cNvPr id="22" name=""/>
          <ns0:cNvPicPr>
            <a:picLocks noChangeAspect="1"/>
          </ns0:cNvPicPr>
          <ns0:nvPr/>
        </ns0:nvPicPr>
        <ns0:blipFill>
          <a:blip ns3:embed="R01da75e4375b4c71"/>
          <a:srcRect l="26611" t="0" r="26611" b="0"/>
          <a:stretch>
            <a:fillRect l="0" t="0" r="0" b="0"/>
          </a:stretch>
        </ns0:blipFill>
        <ns0:spPr>
          <a:xfrm>
            <a:off x="8524875" y="2476500"/>
            <a:ext cx="3057525" cy="3676650"/>
          </a:xfrm>
          <a:prstGeom prst="rect">
            <a:avLst/>
          </a:prstGeom>
        </ns0:spPr>
      </ns0:pic>
    </ns0:spTree>
    <ns0:extLst>
      <ns0:ext uri="{BB962C8B-B14F-4D97-AF65-F5344CB8AC3E}">
        <ns4:creationId val="1992030209"/>
      </ns0:ext>
    </ns0:extLst>
  </ns0:cSld>
</ns0:sld>
</file>

<file path=ppt/slides/slide4.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7F4"/>
        </a:solidFill>
      </ns0:bgPr>
    </ns0:bg>
    <ns0:spTree>
      <ns0:nvGrpSpPr>
        <ns0:cNvPr id="1" name=""/>
        <ns0:cNvGrpSpPr/>
        <ns0:nvPr/>
      </ns0:nvGrpSpPr>
      <ns0:grpSpPr>
        <a:xfrm/>
      </ns0:grpSpPr>
      <ns0:sp>
        <ns0:nvSpPr>
          <ns0:cNvPr id="12" name="">
            <a:extLst>
              <a:ext uri="{FF2B5EF4-FFF2-40B4-BE49-F238E27FC236}">
                <ns2:creationId id="{4F75990C-35FE-4688-8034-507C6907A739}"/>
              </a:ext>
            </a:extLst>
          </ns0:cNvPr>
          <ns0:cNvSpPr>
            <a:spLocks noGrp="1"/>
          </ns0:cNvSpPr>
          <ns0:nvPr/>
        </ns0:nvSpPr>
        <ns0:spPr>
          <a:xfrm>
            <a:off x="609600" y="476250"/>
            <a:ext cx="6191250" cy="381000"/>
          </a:xfrm>
          <a:prstGeom prst="rect">
            <a:avLst/>
          </a:prstGeom>
          <a:noFill/>
          <a:ln w="0">
            <a:noFill/>
          </a:ln>
        </ns0:spPr>
        <ns0:txBody>
          <a:bodyPr>
            <a:noAutofit/>
          </a:bodyPr>
          <a:lstStyle/>
          <a:p>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ns0:txBody>
      </ns0:sp>
      <ns0:sp>
        <ns0:nvSpPr>
          <ns0:cNvPr id="2" name="">
            <a:extLst>
              <a:ext uri="{FF2B5EF4-FFF2-40B4-BE49-F238E27FC236}">
                <ns2:creationId id="{38C02F79-1B45-4571-893A-007DEB199D3B}"/>
              </a:ext>
            </a:extLst>
          </ns0:cNvPr>
          <ns0:cNvSpPr>
            <a:spLocks noGrp="1"/>
          </ns0:cNvSpPr>
          <ns0:nvPr/>
        </ns0:nvSpPr>
        <ns0:spPr>
          <a:xfrm>
            <a:off x="609600" y="1314450"/>
            <a:ext cx="10906125" cy="857250"/>
          </a:xfrm>
          <a:prstGeom prst="rect">
            <a:avLst/>
          </a:prstGeom>
          <a:noFill/>
          <a:ln w="0">
            <a:noFill/>
          </a:ln>
        </ns0:spPr>
        <ns0:txBody>
          <a:bodyPr>
            <a:noAutofit/>
          </a:bodyPr>
          <a:lstStyle/>
          <a:p>
            <a:pPr algn="r" rtl="1">
              <a:defRPr sz="4200" b="1">
                <a:solidFill>
                  <a:srgbClr val="101C2E"/>
                </a:solidFill>
                <a:latin typeface="Geeza Pro"/>
                <a:ea typeface="Geeza Pro"/>
                <a:cs typeface="Geeza Pro"/>
              </a:defRPr>
            </a:pPr>
            <a:r>
              <a:rPr sz="4200" b="1">
                <a:solidFill>
                  <a:srgbClr val="101C2E"/>
                </a:solidFill>
                <a:latin typeface="Geeza Pro"/>
                <a:ea typeface="Geeza Pro"/>
                <a:cs typeface="Geeza Pro"/>
              </a:rPr>
              <a:t>المشاريع والشراكات</a:t>
            </a:r>
          </a:p>
        </ns0:txBody>
      </ns0:sp>
      <ns0:sp>
        <ns0:nvSpPr>
          <ns0:cNvPr id="3" name="">
            <a:extLst>
              <a:ext uri="{FF2B5EF4-FFF2-40B4-BE49-F238E27FC236}">
                <ns2:creationId id="{5A44B8FC-E804-4E4A-B11E-4A5907FFBA38}"/>
              </a:ext>
            </a:extLst>
          </ns0:cNvPr>
          <ns0:cNvSpPr>
            <a:spLocks noGrp="1"/>
          </ns0:cNvSpPr>
          <ns0:nvPr/>
        </ns0:nvSpPr>
        <ns0:spPr>
          <a:xfrm>
            <a:off x="609600" y="26479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01</a:t>
            </a:r>
          </a:p>
        </ns0:txBody>
      </ns0:sp>
      <ns0:sp>
        <ns0:nvSpPr>
          <ns0:cNvPr id="4" name="">
            <a:extLst>
              <a:ext uri="{FF2B5EF4-FFF2-40B4-BE49-F238E27FC236}">
                <ns2:creationId id="{9D1061AF-ACEE-47C9-8EF4-DE8EC4D39535}"/>
              </a:ext>
            </a:extLst>
          </ns0:cNvPr>
          <ns0:cNvSpPr>
            <a:spLocks noGrp="1"/>
          </ns0:cNvSpPr>
          <ns0:nvPr/>
        </ns0:nvSpPr>
        <ns0:spPr>
          <a:xfrm>
            <a:off x="1362075" y="25812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الطاقة والتعدين والبنية التحتية</a:t>
            </a:r>
          </a:p>
        </ns0:txBody>
      </ns0:sp>
      <ns0:sp>
        <ns0:nvSpPr>
          <ns0:cNvPr id="5" name="">
            <a:extLst>
              <a:ext uri="{FF2B5EF4-FFF2-40B4-BE49-F238E27FC236}">
                <ns2:creationId id="{CFA751CF-390E-4C68-8882-2FC39DFB7D11}"/>
              </a:ext>
            </a:extLst>
          </ns0:cNvPr>
          <ns0:cNvSpPr>
            <a:spLocks noGrp="1"/>
          </ns0:cNvSpPr>
          <ns0:nvPr/>
        </ns0:nvSpPr>
        <ns0:spPr>
          <a:xfrm>
            <a:off x="609600" y="34861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02</a:t>
            </a:r>
          </a:p>
        </ns0:txBody>
      </ns0:sp>
      <ns0:sp>
        <ns0:nvSpPr>
          <ns0:cNvPr id="6" name="">
            <a:extLst>
              <a:ext uri="{FF2B5EF4-FFF2-40B4-BE49-F238E27FC236}">
                <ns2:creationId id="{76F8D65A-3E13-42F3-9921-4822A14D2134}"/>
              </a:ext>
            </a:extLst>
          </ns0:cNvPr>
          <ns0:cNvSpPr>
            <a:spLocks noGrp="1"/>
          </ns0:cNvSpPr>
          <ns0:nvPr/>
        </ns0:nvSpPr>
        <ns0:spPr>
          <a:xfrm>
            <a:off x="1362075" y="34194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التعليم وتطوير المدارس</a:t>
            </a:r>
          </a:p>
        </ns0:txBody>
      </ns0:sp>
      <ns0:sp>
        <ns0:nvSpPr>
          <ns0:cNvPr id="7" name="">
            <a:extLst>
              <a:ext uri="{FF2B5EF4-FFF2-40B4-BE49-F238E27FC236}">
                <ns2:creationId id="{A2CC2A1E-BCAF-441A-B3C7-891DACFD358A}"/>
              </a:ext>
            </a:extLst>
          </ns0:cNvPr>
          <ns0:cNvSpPr>
            <a:spLocks noGrp="1"/>
          </ns0:cNvSpPr>
          <ns0:nvPr/>
        </ns0:nvSpPr>
        <ns0:spPr>
          <a:xfrm>
            <a:off x="609600" y="43243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03</a:t>
            </a:r>
          </a:p>
        </ns0:txBody>
      </ns0:sp>
      <ns0:sp>
        <ns0:nvSpPr>
          <ns0:cNvPr id="8" name="">
            <a:extLst>
              <a:ext uri="{FF2B5EF4-FFF2-40B4-BE49-F238E27FC236}">
                <ns2:creationId id="{FECBA9C1-E7FA-4A54-8A4B-07E951471042}"/>
              </a:ext>
            </a:extLst>
          </ns0:cNvPr>
          <ns0:cNvSpPr>
            <a:spLocks noGrp="1"/>
          </ns0:cNvSpPr>
          <ns0:nvPr/>
        </ns0:nvSpPr>
        <ns0:spPr>
          <a:xfrm>
            <a:off x="1362075" y="42576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دعم كبار السن والأسر</a:t>
            </a:r>
          </a:p>
        </ns0:txBody>
      </ns0:sp>
      <ns0:sp>
        <ns0:nvSpPr>
          <ns0:cNvPr id="9" name="">
            <a:extLst>
              <a:ext uri="{FF2B5EF4-FFF2-40B4-BE49-F238E27FC236}">
                <ns2:creationId id="{F49F0DC7-05FF-4F32-B1DD-DD604206E1CF}"/>
              </a:ext>
            </a:extLst>
          </ns0:cNvPr>
          <ns0:cNvSpPr>
            <a:spLocks noGrp="1"/>
          </ns0:cNvSpPr>
          <ns0:nvPr/>
        </ns0:nvSpPr>
        <ns0:spPr>
          <a:xfrm>
            <a:off x="609600" y="5162550"/>
            <a:ext cx="523875" cy="428625"/>
          </a:xfrm>
          <a:prstGeom prst="rect">
            <a:avLst/>
          </a:prstGeom>
          <a:noFill/>
          <a:ln w="0">
            <a:noFill/>
          </a:ln>
        </ns0:spPr>
        <ns0:txBody>
          <a:bodyPr>
            <a:noAutofit/>
          </a:bodyPr>
          <a:lstStyle/>
          <a:p>
            <a:pPr>
              <a:defRPr sz="1950" b="1">
                <a:solidFill>
                  <a:srgbClr val="C59946"/>
                </a:solidFill>
                <a:latin typeface="Arial"/>
                <a:ea typeface="Arial"/>
                <a:cs typeface="Arial"/>
              </a:defRPr>
            </a:pPr>
            <a:r>
              <a:rPr sz="1950" b="1">
                <a:solidFill>
                  <a:srgbClr val="C59946"/>
                </a:solidFill>
                <a:latin typeface="Arial"/>
                <a:ea typeface="Arial"/>
                <a:cs typeface="Arial"/>
              </a:rPr>
              <a:t>04</a:t>
            </a:r>
          </a:p>
        </ns0:txBody>
      </ns0:sp>
      <ns0:sp>
        <ns0:nvSpPr>
          <ns0:cNvPr id="10" name="">
            <a:extLst>
              <a:ext uri="{FF2B5EF4-FFF2-40B4-BE49-F238E27FC236}">
                <ns2:creationId id="{8EE2E39F-0E08-468E-8A98-8BEB43A6C49F}"/>
              </a:ext>
            </a:extLst>
          </ns0:cNvPr>
          <ns0:cNvSpPr>
            <a:spLocks noGrp="1"/>
          </ns0:cNvSpPr>
          <ns0:nvPr/>
        </ns0:nvSpPr>
        <ns0:spPr>
          <a:xfrm>
            <a:off x="1362075" y="5095875"/>
            <a:ext cx="6477000" cy="762000"/>
          </a:xfrm>
          <a:prstGeom prst="rect">
            <a:avLst/>
          </a:prstGeom>
          <a:noFill/>
          <a:ln w="0">
            <a:noFill/>
          </a:ln>
        </ns0:spPr>
        <ns0:txBody>
          <a:bodyPr>
            <a:noAutofit/>
          </a:bodyPr>
          <a:lstStyle/>
          <a:p>
            <a:pPr algn="r" rtl="1">
              <a:defRPr sz="2325" b="0">
                <a:solidFill>
                  <a:srgbClr val="101C2E"/>
                </a:solidFill>
                <a:latin typeface="Geeza Pro"/>
                <a:ea typeface="Geeza Pro"/>
                <a:cs typeface="Geeza Pro"/>
              </a:defRPr>
            </a:pPr>
            <a:r>
              <a:rPr sz="2325" b="0">
                <a:solidFill>
                  <a:srgbClr val="101C2E"/>
                </a:solidFill>
                <a:latin typeface="Geeza Pro"/>
                <a:ea typeface="Geeza Pro"/>
                <a:cs typeface="Geeza Pro"/>
              </a:rPr>
              <a:t>المنتديات والإعلام وموائد المستثمرين المستديرة</a:t>
            </a:r>
          </a:p>
        </ns0:txBody>
      </ns0:sp>
      <ns0:pic>
        <ns0:nvPicPr>
          <ns0:cNvPr id="22" name=""/>
          <ns0:cNvPicPr>
            <a:picLocks noChangeAspect="1"/>
          </ns0:cNvPicPr>
          <ns0:nvPr/>
        </ns0:nvPicPr>
        <ns0:blipFill>
          <a:blip ns3:embed="R52a2a4d54ba84fab"/>
          <a:srcRect l="26611" t="0" r="26611" b="0"/>
          <a:stretch>
            <a:fillRect l="0" t="0" r="0" b="0"/>
          </a:stretch>
        </ns0:blipFill>
        <ns0:spPr>
          <a:xfrm>
            <a:off x="8524875" y="2476500"/>
            <a:ext cx="3057525" cy="3676650"/>
          </a:xfrm>
          <a:prstGeom prst="rect">
            <a:avLst/>
          </a:prstGeom>
        </ns0:spPr>
      </ns0:pic>
    </ns0:spTree>
    <ns0:extLst>
      <ns0:ext uri="{BB962C8B-B14F-4D97-AF65-F5344CB8AC3E}">
        <ns4:creationId val="1656570576"/>
      </ns0:ext>
    </ns0:extLst>
  </ns0:cSld>
</ns0:sld>
</file>

<file path=ppt/slides/slide5.xml><?xml version="1.0" encoding="utf-8"?>
<ns0:sld xmlns:a="http://schemas.openxmlformats.org/drawingml/2006/main" xmlns:ns0="http://schemas.openxmlformats.org/presentationml/2006/main" xmlns:ns2="http://schemas.openxmlformats.org/officeDocument/2006/relationships" xmlns:ns3="http://schemas.microsoft.com/office/drawing/2014/main" xmlns:ns4="http://schemas.microsoft.com/office/powerpoint/2010/main">
  <ns0:cSld>
    <ns0:bg>
      <ns0:bgPr>
        <a:solidFill>
          <a:srgbClr val="101C2E"/>
        </a:solidFill>
      </ns0:bgPr>
    </ns0:bg>
    <ns0:spTree>
      <ns0:nvGrpSpPr>
        <ns0:cNvPr id="1" name=""/>
        <ns0:cNvGrpSpPr/>
        <ns0:nvPr/>
      </ns0:nvGrpSpPr>
      <ns0:grpSpPr>
        <a:xfrm/>
      </ns0:grpSpPr>
      <ns0:pic>
        <ns0:nvPicPr>
          <ns0:cNvPr id="10" name=""/>
          <ns0:cNvPicPr>
            <a:picLocks noChangeAspect="1"/>
          </ns0:cNvPicPr>
          <ns0:nvPr/>
        </ns0:nvPicPr>
        <ns0:blipFill>
          <a:blip ns2:embed="R6bcf3e5ef8f845ce"/>
          <a:stretch/>
        </ns0:blipFill>
        <ns0:spPr>
          <a:xfrm>
            <a:off x="620390" y="381000"/>
            <a:ext cx="530870" cy="552450"/>
          </a:xfrm>
          <a:prstGeom prst="rect">
            <a:avLst/>
          </a:prstGeom>
        </ns0:spPr>
      </ns0:pic>
      <ns0:sp>
        <ns0:nvSpPr>
          <ns0:cNvPr id="2" name="">
            <a:extLst>
              <a:ext uri="{FF2B5EF4-FFF2-40B4-BE49-F238E27FC236}">
                <ns3:creationId id="{B8A4394A-2F24-435D-A0F1-4197465DE5E6}"/>
              </a:ext>
            </a:extLst>
          </ns0:cNvPr>
          <ns0:cNvSpPr>
            <a:spLocks noGrp="1"/>
          </ns0:cNvSpPr>
          <ns0:nvPr/>
        </ns0:nvSpPr>
        <ns0:spPr>
          <a:xfrm>
            <a:off x="1333500" y="476250"/>
            <a:ext cx="6191250" cy="381000"/>
          </a:xfrm>
          <a:prstGeom prst="rect">
            <a:avLst/>
          </a:prstGeom>
          <a:noFill/>
          <a:ln w="0">
            <a:noFill/>
          </a:ln>
        </ns0:spPr>
        <ns0: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ns0:txBody>
      </ns0:sp>
      <ns0:sp>
        <ns0:nvSpPr>
          <ns0:cNvPr id="3" name="">
            <a:extLst>
              <a:ext uri="{FF2B5EF4-FFF2-40B4-BE49-F238E27FC236}">
                <ns3:creationId id="{77247DA6-C976-4104-8E46-DEA3AC3E6402}"/>
              </a:ext>
            </a:extLst>
          </ns0:cNvPr>
          <ns0:cNvSpPr>
            <a:spLocks noGrp="1"/>
          </ns0:cNvSpPr>
          <ns0:nvPr/>
        </ns0:nvSpPr>
        <ns0:spPr>
          <a:xfrm>
            <a:off x="609600" y="1295400"/>
            <a:ext cx="11001375" cy="762000"/>
          </a:xfrm>
          <a:prstGeom prst="rect">
            <a:avLst/>
          </a:prstGeom>
          <a:noFill/>
          <a:ln w="0">
            <a:noFill/>
          </a:ln>
        </ns0:spPr>
        <ns0:txBody>
          <a:bodyPr>
            <a:noAutofit/>
          </a:bodyPr>
          <a:lstStyle/>
          <a:p>
            <a:pPr algn="r" rtl="1">
              <a:defRPr sz="4050" b="1">
                <a:solidFill>
                  <a:srgbClr val="FFFFFF"/>
                </a:solidFill>
                <a:latin typeface="Geeza Pro"/>
                <a:ea typeface="Geeza Pro"/>
                <a:cs typeface="Geeza Pro"/>
              </a:defRPr>
            </a:pPr>
            <a:r>
              <a:rPr sz="4050" b="1">
                <a:solidFill>
                  <a:srgbClr val="FFFFFF"/>
                </a:solidFill>
                <a:latin typeface="Geeza Pro"/>
                <a:ea typeface="Geeza Pro"/>
                <a:cs typeface="Geeza Pro"/>
              </a:rPr>
              <a:t>ابقوا على تواصل مع Gotham</a:t>
            </a:r>
          </a:p>
        </ns0:txBody>
      </ns0:sp>
      <ns0:sp>
        <ns0:nvSpPr>
          <ns0:cNvPr id="4" name="">
            <a:extLst>
              <a:ext uri="{FF2B5EF4-FFF2-40B4-BE49-F238E27FC236}">
                <ns3:creationId id="{419B311E-76BE-4BB1-87BD-AD01F45B5ED8}"/>
              </a:ext>
            </a:extLst>
          </ns0:cNvPr>
          <ns0:cNvSpPr>
            <a:spLocks noGrp="1"/>
          </ns0:cNvSpPr>
          <ns0:nvPr/>
        </ns0:nvSpPr>
        <ns0:spPr>
          <a:xfrm>
            <a:off x="1066800" y="2276475"/>
            <a:ext cx="4762500" cy="552450"/>
          </a:xfrm>
          <a:prstGeom prst="rect">
            <a:avLst/>
          </a:prstGeom>
          <a:noFill/>
          <a:ln w="0">
            <a:noFill/>
          </a:ln>
        </ns0:spPr>
        <ns0:txBody>
          <a:bodyPr>
            <a:noAutofit/>
          </a:bodyPr>
          <a:lstStyle/>
          <a:p>
            <a:pPr algn="r" rtl="1">
              <a:defRPr sz="2550" b="1">
                <a:solidFill>
                  <a:srgbClr val="FFFFFF"/>
                </a:solidFill>
                <a:latin typeface="Geeza Pro"/>
                <a:ea typeface="Geeza Pro"/>
                <a:cs typeface="Geeza Pro"/>
              </a:defRPr>
            </a:pPr>
            <a:r>
              <a:rPr sz="2550" b="1">
                <a:solidFill>
                  <a:srgbClr val="FFFFFF"/>
                </a:solidFill>
                <a:latin typeface="Geeza Pro"/>
                <a:ea typeface="Geeza Pro"/>
                <a:cs typeface="Geeza Pro"/>
              </a:rPr>
              <a:t>تعرّفوا على خدماتنا</a:t>
            </a:r>
          </a:p>
        </ns0:txBody>
      </ns0:sp>
      <ns0:pic>
        <ns0:nvPicPr>
          <ns0:cNvPr id="14" name=""/>
          <ns0:cNvPicPr>
            <a:picLocks noChangeAspect="1"/>
          </ns0:cNvPicPr>
          <ns0:nvPr/>
        </ns0:nvPicPr>
        <ns0:blipFill>
          <a:blip ns2:embed="Red842260e93d492b"/>
          <a:stretch/>
        </ns0:blipFill>
        <ns0:spPr>
          <a:xfrm>
            <a:off x="1352550" y="2895600"/>
            <a:ext cx="3143250" cy="3143250"/>
          </a:xfrm>
          <a:prstGeom prst="rect">
            <a:avLst/>
          </a:prstGeom>
        </ns0:spPr>
      </ns0:pic>
      <ns0:sp>
        <ns0:nvSpPr>
          <ns0:cNvPr id="6" name="">
            <a:extLst>
              <a:ext uri="{FF2B5EF4-FFF2-40B4-BE49-F238E27FC236}">
                <ns3:creationId id="{3054A323-3778-4FE1-8A88-066C6219C6B2}"/>
              </a:ext>
            </a:extLst>
          </ns0:cNvPr>
          <ns0:cNvSpPr>
            <a:spLocks noGrp="1"/>
          </ns0:cNvSpPr>
          <ns0:nvPr/>
        </ns0:nvSpPr>
        <ns0:spPr>
          <a:xfrm>
            <a:off x="1257300" y="6191250"/>
            <a:ext cx="4286250" cy="333375"/>
          </a:xfrm>
          <a:prstGeom prst="rect">
            <a:avLst/>
          </a:prstGeom>
          <a:noFill/>
          <a:ln w="0">
            <a:noFill/>
          </a:ln>
        </ns0:spPr>
        <ns0:txBody>
          <a:bodyPr>
            <a:noAutofit/>
          </a:bodyPr>
          <a:lstStyle/>
          <a:p>
            <a:pPr>
              <a:defRPr sz="1950" b="0">
                <a:solidFill>
                  <a:srgbClr val="FFFFFF"/>
                </a:solidFill>
                <a:latin typeface="Arial"/>
                <a:ea typeface="Arial"/>
                <a:cs typeface="Arial"/>
              </a:defRPr>
            </a:pPr>
            <a:r>
              <a:rPr sz="1950" b="0">
                <a:solidFill>
                  <a:srgbClr val="FFFFFF"/>
                </a:solidFill>
                <a:latin typeface="Arial"/>
                <a:ea typeface="Arial"/>
                <a:cs typeface="Arial"/>
              </a:rPr>
              <a:t>gothamconsult.com</a:t>
            </a:r>
          </a:p>
        </ns0:txBody>
      </ns0:sp>
      <ns0:sp>
        <ns0:nvSpPr>
          <ns0:cNvPr id="7" name="">
            <a:extLst>
              <a:ext uri="{FF2B5EF4-FFF2-40B4-BE49-F238E27FC236}">
                <ns3:creationId id="{005BFA11-C5FA-413F-860F-2B42A8C44282}"/>
              </a:ext>
            </a:extLst>
          </ns0:cNvPr>
          <ns0:cNvSpPr>
            <a:spLocks noGrp="1"/>
          </ns0:cNvSpPr>
          <ns0:nvPr/>
        </ns0:nvSpPr>
        <ns0:spPr>
          <a:xfrm>
            <a:off x="6905625" y="2276475"/>
            <a:ext cx="4762500" cy="552450"/>
          </a:xfrm>
          <a:prstGeom prst="rect">
            <a:avLst/>
          </a:prstGeom>
          <a:noFill/>
          <a:ln w="0">
            <a:noFill/>
          </a:ln>
        </ns0:spPr>
        <ns0:txBody>
          <a:bodyPr>
            <a:noAutofit/>
          </a:bodyPr>
          <a:lstStyle/>
          <a:p>
            <a:pPr algn="r" rtl="1">
              <a:defRPr sz="2550" b="1">
                <a:solidFill>
                  <a:srgbClr val="FFFFFF"/>
                </a:solidFill>
                <a:latin typeface="Geeza Pro"/>
                <a:ea typeface="Geeza Pro"/>
                <a:cs typeface="Geeza Pro"/>
              </a:defRPr>
            </a:pPr>
            <a:r>
              <a:rPr sz="2550" b="1">
                <a:solidFill>
                  <a:srgbClr val="FFFFFF"/>
                </a:solidFill>
                <a:latin typeface="Geeza Pro"/>
                <a:ea typeface="Geeza Pro"/>
                <a:cs typeface="Geeza Pro"/>
              </a:rPr>
              <a:t>تابعونا على LinkedIn</a:t>
            </a:r>
          </a:p>
        </ns0:txBody>
      </ns0:sp>
      <ns0:pic>
        <ns0:nvPicPr>
          <ns0:cNvPr id="17" name=""/>
          <ns0:cNvPicPr>
            <a:picLocks noChangeAspect="1"/>
          </ns0:cNvPicPr>
          <ns0:nvPr/>
        </ns0:nvPicPr>
        <ns0:blipFill>
          <a:blip ns2:embed="Rc1962e854c234421"/>
          <a:stretch/>
        </ns0:blipFill>
        <ns0:spPr>
          <a:xfrm>
            <a:off x="7191375" y="2895600"/>
            <a:ext cx="3143250" cy="3143250"/>
          </a:xfrm>
          <a:prstGeom prst="rect">
            <a:avLst/>
          </a:prstGeom>
        </ns0:spPr>
      </ns0:pic>
      <ns0:sp>
        <ns0:nvSpPr>
          <ns0:cNvPr id="9" name="">
            <a:extLst>
              <a:ext uri="{FF2B5EF4-FFF2-40B4-BE49-F238E27FC236}">
                <ns3:creationId id="{3CCAF999-F366-49B6-AACF-1CD6C4E762FE}"/>
              </a:ext>
            </a:extLst>
          </ns0:cNvPr>
          <ns0:cNvSpPr>
            <a:spLocks noGrp="1"/>
          </ns0:cNvSpPr>
          <ns0:nvPr/>
        </ns0:nvSpPr>
        <ns0:spPr>
          <a:xfrm>
            <a:off x="7096125" y="6191250"/>
            <a:ext cx="4286250" cy="333375"/>
          </a:xfrm>
          <a:prstGeom prst="rect">
            <a:avLst/>
          </a:prstGeom>
          <a:noFill/>
          <a:ln w="0">
            <a:noFill/>
          </a:ln>
        </ns0:spPr>
        <ns0:txBody>
          <a:bodyPr>
            <a:noAutofit/>
          </a:bodyPr>
          <a:lstStyle/>
          <a:p>
            <a:pPr>
              <a:defRPr sz="1950" b="0">
                <a:solidFill>
                  <a:srgbClr val="FFFFFF"/>
                </a:solidFill>
                <a:latin typeface="Arial"/>
                <a:ea typeface="Arial"/>
                <a:cs typeface="Arial"/>
              </a:defRPr>
            </a:pPr>
            <a:r>
              <a:rPr sz="1950" b="0">
                <a:solidFill>
                  <a:srgbClr val="FFFFFF"/>
                </a:solidFill>
                <a:latin typeface="Arial"/>
                <a:ea typeface="Arial"/>
                <a:cs typeface="Arial"/>
              </a:rPr>
              <a:t>Gotham Consult</a:t>
            </a:r>
          </a:p>
        </ns0:txBody>
      </ns0:sp>
    </ns0:spTree>
    <ns0:extLst>
      <ns0:ext uri="{BB962C8B-B14F-4D97-AF65-F5344CB8AC3E}">
        <ns4:creationId val="1999502789"/>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2026-10-07T14:46:24.6930000Z</dcterms:created>
  <dcterms:modified xsi:type="dcterms:W3CDTF">2026-10-07T14:46:24.6930000Z</dcterms:modified>
</coreProperties>
</file>