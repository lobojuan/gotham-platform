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5e61dc4630004aae" /><Relationship Type="http://schemas.openxmlformats.org/officeDocument/2006/relationships/extended-properties" Target="/docProps/app.xml" Id="Rc561f38d8f344c6b" /><Relationship Type="http://schemas.openxmlformats.org/officeDocument/2006/relationships/officeDocument" Target="/ppt/presentation.xml" Id="Rc2d6e43b9c5843c5" /></Relationships>
</file>

<file path=ppt/presentation.xml><?xml version="1.0" encoding="utf-8"?>
<p:presentation xmlns:p="http://schemas.openxmlformats.org/presentationml/2006/main">
  <p:sldMasterIdLst>
    <p:sldMasterId xmlns:r="http://schemas.openxmlformats.org/officeDocument/2006/relationships" id="2147483648" r:id="R0009e605a9f04246"/>
  </p:sldMasterIdLst>
  <p:notesMasterIdLst>
    <p:notesMasterId xmlns:r="http://schemas.openxmlformats.org/officeDocument/2006/relationships" r:id="R8d627cb9cef542cf"/>
  </p:notesMasterIdLst>
  <p:sldIdLst>
    <p:sldId xmlns:r="http://schemas.openxmlformats.org/officeDocument/2006/relationships" id="256" r:id="Rf143dd72b9b54a75"/>
    <p:sldId xmlns:r="http://schemas.openxmlformats.org/officeDocument/2006/relationships" id="257" r:id="R48b03164a3a640fa"/>
    <p:sldId xmlns:r="http://schemas.openxmlformats.org/officeDocument/2006/relationships" id="258" r:id="R01b856b2c5f84a1b"/>
    <p:sldId xmlns:r="http://schemas.openxmlformats.org/officeDocument/2006/relationships" id="259" r:id="R21164ec9b2a343d2"/>
    <p:sldId xmlns:r="http://schemas.openxmlformats.org/officeDocument/2006/relationships" id="260" r:id="Rc3cfe032099046a6"/>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6cee08bb73f74049" /><Relationship Type="http://schemas.openxmlformats.org/officeDocument/2006/relationships/slideMaster" Target="/ppt/slideMasters/slideMaster1.xml" Id="R0009e605a9f04246" /><Relationship Type="http://schemas.openxmlformats.org/officeDocument/2006/relationships/notesMaster" Target="/ppt/notesMasters/notesMaster1.xml" Id="R8d627cb9cef542cf" /><Relationship Type="http://schemas.openxmlformats.org/officeDocument/2006/relationships/presProps" Target="/ppt/presProps.xml" Id="R84b24191b65a4a45" /><Relationship Type="http://schemas.openxmlformats.org/officeDocument/2006/relationships/tableStyles" Target="/ppt/tableStyles.xml" Id="Rd570c5c3d6a94773" /><Relationship Type="http://schemas.openxmlformats.org/officeDocument/2006/relationships/slide" Target="/ppt/slides/slide1.xml" Id="Rf143dd72b9b54a75" /><Relationship Type="http://schemas.openxmlformats.org/officeDocument/2006/relationships/slide" Target="/ppt/slides/slide2.xml" Id="R48b03164a3a640fa" /><Relationship Type="http://schemas.openxmlformats.org/officeDocument/2006/relationships/slide" Target="/ppt/slides/slide3.xml" Id="R01b856b2c5f84a1b" /><Relationship Type="http://schemas.openxmlformats.org/officeDocument/2006/relationships/slide" Target="/ppt/slides/slide4.xml" Id="R21164ec9b2a343d2" /><Relationship Type="http://schemas.openxmlformats.org/officeDocument/2006/relationships/slide" Target="/ppt/slides/slide5.xml" Id="Rc3cfe032099046a6"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9875e3adbd364481"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abfbfd63822c41ac" /><Relationship Type="http://schemas.openxmlformats.org/officeDocument/2006/relationships/notesMaster" Target="/ppt/notesMasters/notesMaster1.xml" Id="Rc7a65a2330494991" /></Relationships>
</file>

<file path=ppt/notesSlides/_rels/notesSlide2.xml.rels>&#65279;<?xml version="1.0" encoding="utf-8"?><Relationships xmlns="http://schemas.openxmlformats.org/package/2006/relationships"><Relationship Type="http://schemas.openxmlformats.org/officeDocument/2006/relationships/slide" Target="/ppt/slides/slide2.xml" Id="R81f5495720db4021" /><Relationship Type="http://schemas.openxmlformats.org/officeDocument/2006/relationships/notesMaster" Target="/ppt/notesMasters/notesMaster1.xml" Id="R5278ba189d4f44ca" /></Relationships>
</file>

<file path=ppt/notesSlides/_rels/notesSlide3.xml.rels>&#65279;<?xml version="1.0" encoding="utf-8"?><Relationships xmlns="http://schemas.openxmlformats.org/package/2006/relationships"><Relationship Type="http://schemas.openxmlformats.org/officeDocument/2006/relationships/slide" Target="/ppt/slides/slide3.xml" Id="R40d2da152e70479c" /><Relationship Type="http://schemas.openxmlformats.org/officeDocument/2006/relationships/notesMaster" Target="/ppt/notesMasters/notesMaster1.xml" Id="Rd9b567a515384112" /></Relationships>
</file>

<file path=ppt/notesSlides/_rels/notesSlide4.xml.rels>&#65279;<?xml version="1.0" encoding="utf-8"?><Relationships xmlns="http://schemas.openxmlformats.org/package/2006/relationships"><Relationship Type="http://schemas.openxmlformats.org/officeDocument/2006/relationships/slide" Target="/ppt/slides/slide4.xml" Id="R500468931a104481" /><Relationship Type="http://schemas.openxmlformats.org/officeDocument/2006/relationships/notesMaster" Target="/ppt/notesMasters/notesMaster1.xml" Id="R4146221ec1154e86" /></Relationships>
</file>

<file path=ppt/notesSlides/_rels/notesSlide5.xml.rels>&#65279;<?xml version="1.0" encoding="utf-8"?><Relationships xmlns="http://schemas.openxmlformats.org/package/2006/relationships"><Relationship Type="http://schemas.openxmlformats.org/officeDocument/2006/relationships/slide" Target="/ppt/slides/slide5.xml" Id="R9086633c7fd54beb" /><Relationship Type="http://schemas.openxmlformats.org/officeDocument/2006/relationships/notesMaster" Target="/ppt/notesMasters/notesMaster1.xml" Id="R1f2fdd7bbeb24aa9"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Introduce Gotham Consult as an Accra-based business development and international projects consultancy. Explain that the next slides describe the services already published on the site. Cover photo is the existing Gotham website Airport City image.</a:t>
            </a:r>
          </a:p>
          <a:p xmlns:a="http://schemas.openxmlformats.org/drawingml/2006/main">
            <a:r>
              <a:t>Published service source: https://gothamconsult.com/about</a:t>
            </a:r>
          </a:p>
          <a:p xmlns:a="http://schemas.openxmlformats.org/drawingml/2006/main">
            <a:r>
              <a:t>Content date: 5 October 2026. No prices, investment returns or delivery guarantees are asserted.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Discuss the client’s sector and stage. Company setup, investment readiness, market entry and compliance support are delivered with professional partners where required. Do not imply guaranteed funding or regulatory approval.</a:t>
            </a:r>
          </a:p>
          <a:p xmlns:a="http://schemas.openxmlformats.org/drawingml/2006/main">
            <a:r>
              <a:t>Published service source: https://gothamconsult.com/services</a:t>
            </a:r>
          </a:p>
          <a:p xmlns:a="http://schemas.openxmlformats.org/drawingml/2006/main">
            <a:r>
              <a:t>Content date: 5 October 2026. No prices, investment returns or delivery guarantees are asserted.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Show the live website chatbot as an example if internet is available. Scope each automation with the client. Do not claim that a certified GRA integration, automatic bank feeds or a complete payroll system have already been delivered. Technology image comes from existing website assets.</a:t>
            </a:r>
          </a:p>
          <a:p xmlns:a="http://schemas.openxmlformats.org/drawingml/2006/main">
            <a:r>
              <a:t>Published service source: https://gothamconsult.com/services/ai</a:t>
            </a:r>
          </a:p>
          <a:p xmlns:a="http://schemas.openxmlformats.org/drawingml/2006/main">
            <a:r>
              <a:t>Content date: 5 October 2026. No prices, investment returns or delivery guarantees are asserted.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are the remaining published service areas. Explain that specialist lawyers, geologists and engineers join projects where needed. Family support is practical coordination, not an unsupported medical-service promise. Forum image is an existing public website asset.</a:t>
            </a:r>
          </a:p>
          <a:p xmlns:a="http://schemas.openxmlformats.org/drawingml/2006/main">
            <a:r>
              <a:t>Published service source: https://gothamconsult.com/services</a:t>
            </a:r>
          </a:p>
          <a:p xmlns:a="http://schemas.openxmlformats.org/drawingml/2006/main">
            <a:r>
              <a:t>Content date: 5 October 2026. No prices, investment returns or delivery guarantees are asserted.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Leave this slide on screen after the talk so the audience can scan. The first QR opens the public website, including services, forums and the chatbot. The second opens the LinkedIn company page linked in the website footer. Invite people to follow the page in LinkedIn; scanning alone does not follow an account. Phone: +233 55 041 6627. Email: info@gothamconsult.com.</a:t>
            </a:r>
          </a:p>
          <a:p xmlns:a="http://schemas.openxmlformats.org/drawingml/2006/main">
            <a:r>
              <a:t>Published service source: https://gothamconsult.com/</a:t>
            </a:r>
          </a:p>
          <a:p xmlns:a="http://schemas.openxmlformats.org/drawingml/2006/main">
            <a:r>
              <a:t>Content date: 5 October 2026. No prices, investment returns or delivery guarantees are asserted.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fb03ff62eb164479"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e13b493e02ed4e1e" /><Relationship Type="http://schemas.openxmlformats.org/officeDocument/2006/relationships/slideLayout" Target="/ppt/slideLayouts/slideLayout1.xml" Id="R10f017144a0a4df7"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10f017144a0a4df7"/>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225ab1037c61437f" /><Relationship Type="http://schemas.openxmlformats.org/officeDocument/2006/relationships/image" Target="/ppt/media/image.png" Id="Rd493cdc0a0e0426f" /><Relationship Type="http://schemas.openxmlformats.org/officeDocument/2006/relationships/image" Target="/ppt/media/image2.png" Id="R229f7fb40e1f4deb" /><Relationship Type="http://schemas.openxmlformats.org/officeDocument/2006/relationships/notesSlide" Target="/ppt/notesSlides/notesSlide1.xml" Id="Rba6d748870a34f22"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70b5dc0931d24dba" /><Relationship Type="http://schemas.openxmlformats.org/officeDocument/2006/relationships/image" Target="/ppt/media/image3.png" Id="Rd3fbc8052378493d" /><Relationship Type="http://schemas.openxmlformats.org/officeDocument/2006/relationships/notesSlide" Target="/ppt/notesSlides/notesSlide2.xml" Id="R4d03f4410fbc4f0a"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a62d6bb5ca8841b0" /><Relationship Type="http://schemas.openxmlformats.org/officeDocument/2006/relationships/image" Target="/ppt/media/image4.png" Id="R07bbbfb481a04c10" /><Relationship Type="http://schemas.openxmlformats.org/officeDocument/2006/relationships/notesSlide" Target="/ppt/notesSlides/notesSlide3.xml" Id="R4e2451d499d74a52"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f0c38bb405754d68" /><Relationship Type="http://schemas.openxmlformats.org/officeDocument/2006/relationships/image" Target="/ppt/media/image5.png" Id="Rd8f6b03a19d0447f" /><Relationship Type="http://schemas.openxmlformats.org/officeDocument/2006/relationships/notesSlide" Target="/ppt/notesSlides/notesSlide4.xml" Id="R8541b55162b24dc7"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2c741564e6154c98" /><Relationship Type="http://schemas.openxmlformats.org/officeDocument/2006/relationships/image" Target="/ppt/media/image6.png" Id="R06c90d57072e421e" /><Relationship Type="http://schemas.openxmlformats.org/officeDocument/2006/relationships/image" Target="/ppt/media/image7.png" Id="R522190278eac4501" /><Relationship Type="http://schemas.openxmlformats.org/officeDocument/2006/relationships/image" Target="/ppt/media/image8.png" Id="R9bba81b9d5134422" /><Relationship Type="http://schemas.openxmlformats.org/officeDocument/2006/relationships/notesSlide" Target="/ppt/notesSlides/notesSlide5.xml" Id="R65a83b48e2274c06" /></Relationships>
</file>

<file path=ppt/slides/slide1.xml><?xml version="1.0" encoding="utf-8"?>
<p:sld xmlns:p="http://schemas.openxmlformats.org/presentationml/2006/main">
  <p:cSld>
    <p:bg>
      <p:bgPr>
        <a:solidFill xmlns:a="http://schemas.openxmlformats.org/drawingml/2006/main">
          <a:srgbClr val="101C2E"/>
        </a:solidFill>
      </p:bgPr>
    </p:bg>
    <p:spTree>
      <p:nvGrpSpPr>
        <p:cNvPr id="1" name=""/>
        <p:cNvGrpSpPr/>
        <p:nvPr/>
      </p:nvGrpSpPr>
      <p:grpSpPr>
        <a:xfrm xmlns:a="http://schemas.openxmlformats.org/drawingml/2006/main"/>
      </p:grpSpPr>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d493cdc0a0e0426f"/>
          <a:srcRect xmlns:a="http://schemas.openxmlformats.org/drawingml/2006/main" l="23958" t="0" r="23958" b="0"/>
          <a:stretch xmlns:a="http://schemas.openxmlformats.org/drawingml/2006/main">
            <a:fillRect l="0" t="0" r="0" b="0"/>
          </a:stretch>
        </p:blipFill>
        <p:spPr>
          <a:xfrm xmlns:a="http://schemas.openxmlformats.org/drawingml/2006/main">
            <a:off x="7429500" y="0"/>
            <a:ext cx="4762500" cy="6858000"/>
          </a:xfrm>
          <a:prstGeom xmlns:a="http://schemas.openxmlformats.org/drawingml/2006/main" prst="rect">
            <a:avLst/>
          </a:prstGeom>
        </p:spPr>
      </p:pic>
      <p:pic>
        <p:nvPicPr>
          <p:cNvPr id="8" name=""/>
          <p:cNvPicPr>
            <a:picLocks xmlns:a="http://schemas.openxmlformats.org/drawingml/2006/main" noChangeAspect="1"/>
          </p:cNvPicPr>
          <p:nvPr/>
        </p:nvPicPr>
        <p:blipFill>
          <a:blip xmlns:r="http://schemas.openxmlformats.org/officeDocument/2006/relationships" xmlns:a="http://schemas.openxmlformats.org/drawingml/2006/main" r:embed="R229f7fb40e1f4deb"/>
          <a:stretch xmlns:a="http://schemas.openxmlformats.org/drawingml/2006/main"/>
        </p:blipFill>
        <p:spPr>
          <a:xfrm xmlns:a="http://schemas.openxmlformats.org/drawingml/2006/main">
            <a:off x="620390" y="381000"/>
            <a:ext cx="530870" cy="552450"/>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47A973F3-9F0C-420B-BFD0-8EBFBDE157D2}"/>
              </a:ext>
            </a:extLst>
          </p:cNvPr>
          <p:cNvSpPr>
            <a:spLocks xmlns:a="http://schemas.openxmlformats.org/drawingml/2006/main" noGrp="1"/>
          </p:cNvSpPr>
          <p:nvPr/>
        </p:nvSpPr>
        <p:spPr>
          <a:xfrm xmlns:a="http://schemas.openxmlformats.org/drawingml/2006/main">
            <a:off x="1333500" y="476250"/>
            <a:ext cx="6191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FFFFFF"/>
                </a:solidFill>
                <a:latin typeface="Arial"/>
                <a:ea typeface="Arial"/>
                <a:cs typeface="Arial"/>
              </a:defRPr>
            </a:pPr>
            <a:r>
              <a:rPr sz="2100" b="1">
                <a:solidFill>
                  <a:srgbClr val="FFFFFF"/>
                </a:solidFill>
                <a:latin typeface="Arial"/>
                <a:ea typeface="Arial"/>
                <a:cs typeface="Arial"/>
              </a:rPr>
              <a:t>GOTHAM CONSULT</a:t>
            </a:r>
          </a:p>
        </p:txBody>
      </p:sp>
      <p:sp>
        <p:nvSpPr>
          <p:cNvPr id="4" name="">
            <a:extLst xmlns:a="http://schemas.openxmlformats.org/drawingml/2006/main">
              <a:ext uri="{FF2B5EF4-FFF2-40B4-BE49-F238E27FC236}">
                <a16:creationId xmlns:a16="http://schemas.microsoft.com/office/drawing/2014/main" id="{EF297CBD-13BA-45A5-8B70-08F5D0F84FF1}"/>
              </a:ext>
            </a:extLst>
          </p:cNvPr>
          <p:cNvSpPr>
            <a:spLocks xmlns:a="http://schemas.openxmlformats.org/drawingml/2006/main" noGrp="1"/>
          </p:cNvSpPr>
          <p:nvPr/>
        </p:nvSpPr>
        <p:spPr>
          <a:xfrm xmlns:a="http://schemas.openxmlformats.org/drawingml/2006/main">
            <a:off x="609600" y="2009775"/>
            <a:ext cx="6477000" cy="2190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5250" b="1">
                <a:solidFill>
                  <a:srgbClr val="FFFFFF"/>
                </a:solidFill>
                <a:latin typeface="Arial"/>
                <a:ea typeface="Arial"/>
                <a:cs typeface="Arial"/>
              </a:defRPr>
            </a:pPr>
            <a:r>
              <a:rPr sz="5250" b="1">
                <a:solidFill>
                  <a:srgbClr val="FFFFFF"/>
                </a:solidFill>
                <a:latin typeface="Arial"/>
                <a:ea typeface="Arial"/>
                <a:cs typeface="Arial"/>
              </a:rPr>
              <a:t>Partnerschaften</a:t>
            </a:r>
          </a:p>
          <a:p xmlns:a="http://schemas.openxmlformats.org/drawingml/2006/main">
            <a:pPr>
              <a:defRPr sz="5250" b="1">
                <a:solidFill>
                  <a:srgbClr val="FFFFFF"/>
                </a:solidFill>
                <a:latin typeface="Arial"/>
                <a:ea typeface="Arial"/>
                <a:cs typeface="Arial"/>
              </a:defRPr>
            </a:pPr>
            <a:r>
              <a:rPr sz="5250" b="1">
                <a:solidFill>
                  <a:srgbClr val="FFFFFF"/>
                </a:solidFill>
                <a:latin typeface="Arial"/>
                <a:ea typeface="Arial"/>
                <a:cs typeface="Arial"/>
              </a:rPr>
              <a:t>in Ghana aufbauen</a:t>
            </a:r>
          </a:p>
        </p:txBody>
      </p:sp>
      <p:sp>
        <p:nvSpPr>
          <p:cNvPr id="5" name="">
            <a:extLst xmlns:a="http://schemas.openxmlformats.org/drawingml/2006/main">
              <a:ext uri="{FF2B5EF4-FFF2-40B4-BE49-F238E27FC236}">
                <a16:creationId xmlns:a16="http://schemas.microsoft.com/office/drawing/2014/main" id="{7E1FA092-FC04-470E-BF36-346C80CBFCF7}"/>
              </a:ext>
            </a:extLst>
          </p:cNvPr>
          <p:cNvSpPr>
            <a:spLocks xmlns:a="http://schemas.openxmlformats.org/drawingml/2006/main" noGrp="1"/>
          </p:cNvSpPr>
          <p:nvPr/>
        </p:nvSpPr>
        <p:spPr>
          <a:xfrm xmlns:a="http://schemas.openxmlformats.org/drawingml/2006/main">
            <a:off x="628650" y="4657725"/>
            <a:ext cx="6286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75" b="0">
                <a:solidFill>
                  <a:srgbClr val="E4E8EF"/>
                </a:solidFill>
                <a:latin typeface="Arial"/>
                <a:ea typeface="Arial"/>
                <a:cs typeface="Arial"/>
              </a:defRPr>
            </a:pPr>
            <a:r>
              <a:rPr sz="2475" b="0">
                <a:solidFill>
                  <a:srgbClr val="E4E8EF"/>
                </a:solidFill>
                <a:latin typeface="Arial"/>
                <a:ea typeface="Arial"/>
                <a:cs typeface="Arial"/>
              </a:rPr>
              <a:t>Unternehmensberatung, Technologie</a:t>
            </a:r>
          </a:p>
          <a:p xmlns:a="http://schemas.openxmlformats.org/drawingml/2006/main">
            <a:pPr>
              <a:defRPr sz="2475" b="0">
                <a:solidFill>
                  <a:srgbClr val="E4E8EF"/>
                </a:solidFill>
                <a:latin typeface="Arial"/>
                <a:ea typeface="Arial"/>
                <a:cs typeface="Arial"/>
              </a:defRPr>
            </a:pPr>
            <a:r>
              <a:rPr sz="2475" b="0">
                <a:solidFill>
                  <a:srgbClr val="E4E8EF"/>
                </a:solidFill>
                <a:latin typeface="Arial"/>
                <a:ea typeface="Arial"/>
                <a:cs typeface="Arial"/>
              </a:rPr>
              <a:t>und internationale Projekte</a:t>
            </a:r>
          </a:p>
        </p:txBody>
      </p:sp>
      <p:sp>
        <p:nvSpPr>
          <p:cNvPr id="6" name="">
            <a:extLst xmlns:a="http://schemas.openxmlformats.org/drawingml/2006/main">
              <a:ext uri="{FF2B5EF4-FFF2-40B4-BE49-F238E27FC236}">
                <a16:creationId xmlns:a16="http://schemas.microsoft.com/office/drawing/2014/main" id="{4FB4BDA8-734D-4D03-A4B2-69A285DDB1BB}"/>
              </a:ext>
            </a:extLst>
          </p:cNvPr>
          <p:cNvSpPr>
            <a:spLocks xmlns:a="http://schemas.openxmlformats.org/drawingml/2006/main" noGrp="1"/>
          </p:cNvSpPr>
          <p:nvPr/>
        </p:nvSpPr>
        <p:spPr>
          <a:xfrm xmlns:a="http://schemas.openxmlformats.org/drawingml/2006/main">
            <a:off x="628650" y="6124575"/>
            <a:ext cx="6477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C59946"/>
                </a:solidFill>
                <a:latin typeface="Arial"/>
                <a:ea typeface="Arial"/>
                <a:cs typeface="Arial"/>
              </a:defRPr>
            </a:pPr>
            <a:r>
              <a:rPr sz="2100" b="0">
                <a:solidFill>
                  <a:srgbClr val="C59946"/>
                </a:solidFill>
                <a:latin typeface="Arial"/>
                <a:ea typeface="Arial"/>
                <a:cs typeface="Arial"/>
              </a:rPr>
              <a:t>gothamconsult.com</a:t>
            </a:r>
          </a:p>
        </p:txBody>
      </p:sp>
    </p:spTree>
    <p:extLst>
      <p:ext uri="{BB962C8B-B14F-4D97-AF65-F5344CB8AC3E}">
        <p14:creationId xmlns:p14="http://schemas.microsoft.com/office/powerpoint/2010/main" val="1439518961"/>
      </p:ext>
    </p:extLst>
  </p:cSld>
</p:sld>
</file>

<file path=ppt/slides/slide2.xml><?xml version="1.0" encoding="utf-8"?>
<p:sld xmlns:p="http://schemas.openxmlformats.org/presentationml/2006/main">
  <p:cSld>
    <p:bg>
      <p:bgPr>
        <a:solidFill xmlns:a="http://schemas.openxmlformats.org/drawingml/2006/main">
          <a:srgbClr val="F7F7F4"/>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6D1E70F5-A359-40D0-B54D-FE38FA81F3D8}"/>
              </a:ext>
            </a:extLst>
          </p:cNvPr>
          <p:cNvSpPr>
            <a:spLocks xmlns:a="http://schemas.openxmlformats.org/drawingml/2006/main" noGrp="1"/>
          </p:cNvSpPr>
          <p:nvPr/>
        </p:nvSpPr>
        <p:spPr>
          <a:xfrm xmlns:a="http://schemas.openxmlformats.org/drawingml/2006/main">
            <a:off x="609600" y="476250"/>
            <a:ext cx="6191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01C2E"/>
                </a:solidFill>
                <a:latin typeface="Arial"/>
                <a:ea typeface="Arial"/>
                <a:cs typeface="Arial"/>
              </a:defRPr>
            </a:pPr>
            <a:r>
              <a:rPr sz="2100" b="1">
                <a:solidFill>
                  <a:srgbClr val="101C2E"/>
                </a:solidFill>
                <a:latin typeface="Arial"/>
                <a:ea typeface="Arial"/>
                <a:cs typeface="Arial"/>
              </a:rPr>
              <a:t>GOTHAM CONSULT</a:t>
            </a:r>
          </a:p>
        </p:txBody>
      </p:sp>
      <p:sp>
        <p:nvSpPr>
          <p:cNvPr id="2" name="">
            <a:extLst xmlns:a="http://schemas.openxmlformats.org/drawingml/2006/main">
              <a:ext uri="{FF2B5EF4-FFF2-40B4-BE49-F238E27FC236}">
                <a16:creationId xmlns:a16="http://schemas.microsoft.com/office/drawing/2014/main" id="{862C7F0B-8AFA-4398-8FB4-414440A6A2D3}"/>
              </a:ext>
            </a:extLst>
          </p:cNvPr>
          <p:cNvSpPr>
            <a:spLocks xmlns:a="http://schemas.openxmlformats.org/drawingml/2006/main" noGrp="1"/>
          </p:cNvSpPr>
          <p:nvPr/>
        </p:nvSpPr>
        <p:spPr>
          <a:xfrm xmlns:a="http://schemas.openxmlformats.org/drawingml/2006/main">
            <a:off x="609600" y="1314450"/>
            <a:ext cx="1090612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200" b="1">
                <a:solidFill>
                  <a:srgbClr val="101C2E"/>
                </a:solidFill>
                <a:latin typeface="Arial"/>
                <a:ea typeface="Arial"/>
                <a:cs typeface="Arial"/>
              </a:defRPr>
            </a:pPr>
            <a:r>
              <a:rPr sz="4200" b="1">
                <a:solidFill>
                  <a:srgbClr val="101C2E"/>
                </a:solidFill>
                <a:latin typeface="Arial"/>
                <a:ea typeface="Arial"/>
                <a:cs typeface="Arial"/>
              </a:rPr>
              <a:t>Unternehmen und Investitionen</a:t>
            </a:r>
          </a:p>
        </p:txBody>
      </p:sp>
      <p:sp>
        <p:nvSpPr>
          <p:cNvPr id="3" name="">
            <a:extLst xmlns:a="http://schemas.openxmlformats.org/drawingml/2006/main">
              <a:ext uri="{FF2B5EF4-FFF2-40B4-BE49-F238E27FC236}">
                <a16:creationId xmlns:a16="http://schemas.microsoft.com/office/drawing/2014/main" id="{9BDA86A3-5090-4012-9821-0132BC243AE4}"/>
              </a:ext>
            </a:extLst>
          </p:cNvPr>
          <p:cNvSpPr>
            <a:spLocks xmlns:a="http://schemas.openxmlformats.org/drawingml/2006/main" noGrp="1"/>
          </p:cNvSpPr>
          <p:nvPr/>
        </p:nvSpPr>
        <p:spPr>
          <a:xfrm xmlns:a="http://schemas.openxmlformats.org/drawingml/2006/main">
            <a:off x="609600" y="2647950"/>
            <a:ext cx="5238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C59946"/>
                </a:solidFill>
                <a:latin typeface="Arial"/>
                <a:ea typeface="Arial"/>
                <a:cs typeface="Arial"/>
              </a:defRPr>
            </a:pPr>
            <a:r>
              <a:rPr sz="1950" b="1">
                <a:solidFill>
                  <a:srgbClr val="C59946"/>
                </a:solidFill>
                <a:latin typeface="Arial"/>
                <a:ea typeface="Arial"/>
                <a:cs typeface="Arial"/>
              </a:rPr>
              <a:t>01</a:t>
            </a:r>
          </a:p>
        </p:txBody>
      </p:sp>
      <p:sp>
        <p:nvSpPr>
          <p:cNvPr id="4" name="">
            <a:extLst xmlns:a="http://schemas.openxmlformats.org/drawingml/2006/main">
              <a:ext uri="{FF2B5EF4-FFF2-40B4-BE49-F238E27FC236}">
                <a16:creationId xmlns:a16="http://schemas.microsoft.com/office/drawing/2014/main" id="{B819853E-F63D-43E0-A80C-69579C4A0843}"/>
              </a:ext>
            </a:extLst>
          </p:cNvPr>
          <p:cNvSpPr>
            <a:spLocks xmlns:a="http://schemas.openxmlformats.org/drawingml/2006/main" noGrp="1"/>
          </p:cNvSpPr>
          <p:nvPr/>
        </p:nvSpPr>
        <p:spPr>
          <a:xfrm xmlns:a="http://schemas.openxmlformats.org/drawingml/2006/main">
            <a:off x="1362075" y="2581275"/>
            <a:ext cx="6477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101C2E"/>
                </a:solidFill>
                <a:latin typeface="Arial"/>
                <a:ea typeface="Arial"/>
                <a:cs typeface="Arial"/>
              </a:defRPr>
            </a:pPr>
            <a:r>
              <a:rPr sz="2325" b="0">
                <a:solidFill>
                  <a:srgbClr val="101C2E"/>
                </a:solidFill>
                <a:latin typeface="Arial"/>
                <a:ea typeface="Arial"/>
                <a:cs typeface="Arial"/>
              </a:rPr>
              <a:t>Unternehmensgründung und Markteintritt</a:t>
            </a:r>
          </a:p>
        </p:txBody>
      </p:sp>
      <p:sp>
        <p:nvSpPr>
          <p:cNvPr id="5" name="">
            <a:extLst xmlns:a="http://schemas.openxmlformats.org/drawingml/2006/main">
              <a:ext uri="{FF2B5EF4-FFF2-40B4-BE49-F238E27FC236}">
                <a16:creationId xmlns:a16="http://schemas.microsoft.com/office/drawing/2014/main" id="{75697888-55B6-4A28-A90C-B10CF8A95FF4}"/>
              </a:ext>
            </a:extLst>
          </p:cNvPr>
          <p:cNvSpPr>
            <a:spLocks xmlns:a="http://schemas.openxmlformats.org/drawingml/2006/main" noGrp="1"/>
          </p:cNvSpPr>
          <p:nvPr/>
        </p:nvSpPr>
        <p:spPr>
          <a:xfrm xmlns:a="http://schemas.openxmlformats.org/drawingml/2006/main">
            <a:off x="609600" y="3486150"/>
            <a:ext cx="5238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C59946"/>
                </a:solidFill>
                <a:latin typeface="Arial"/>
                <a:ea typeface="Arial"/>
                <a:cs typeface="Arial"/>
              </a:defRPr>
            </a:pPr>
            <a:r>
              <a:rPr sz="1950" b="1">
                <a:solidFill>
                  <a:srgbClr val="C59946"/>
                </a:solidFill>
                <a:latin typeface="Arial"/>
                <a:ea typeface="Arial"/>
                <a:cs typeface="Arial"/>
              </a:rPr>
              <a:t>02</a:t>
            </a:r>
          </a:p>
        </p:txBody>
      </p:sp>
      <p:sp>
        <p:nvSpPr>
          <p:cNvPr id="6" name="">
            <a:extLst xmlns:a="http://schemas.openxmlformats.org/drawingml/2006/main">
              <a:ext uri="{FF2B5EF4-FFF2-40B4-BE49-F238E27FC236}">
                <a16:creationId xmlns:a16="http://schemas.microsoft.com/office/drawing/2014/main" id="{63D73846-5292-4709-826F-3883123F8A35}"/>
              </a:ext>
            </a:extLst>
          </p:cNvPr>
          <p:cNvSpPr>
            <a:spLocks xmlns:a="http://schemas.openxmlformats.org/drawingml/2006/main" noGrp="1"/>
          </p:cNvSpPr>
          <p:nvPr/>
        </p:nvSpPr>
        <p:spPr>
          <a:xfrm xmlns:a="http://schemas.openxmlformats.org/drawingml/2006/main">
            <a:off x="1362075" y="3419475"/>
            <a:ext cx="6477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101C2E"/>
                </a:solidFill>
                <a:latin typeface="Arial"/>
                <a:ea typeface="Arial"/>
                <a:cs typeface="Arial"/>
              </a:defRPr>
            </a:pPr>
            <a:r>
              <a:rPr sz="2325" b="0">
                <a:solidFill>
                  <a:srgbClr val="101C2E"/>
                </a:solidFill>
                <a:latin typeface="Arial"/>
                <a:ea typeface="Arial"/>
                <a:cs typeface="Arial"/>
              </a:rPr>
              <a:t>Geschäftspläne und Finanzmodelle</a:t>
            </a:r>
          </a:p>
        </p:txBody>
      </p:sp>
      <p:sp>
        <p:nvSpPr>
          <p:cNvPr id="7" name="">
            <a:extLst xmlns:a="http://schemas.openxmlformats.org/drawingml/2006/main">
              <a:ext uri="{FF2B5EF4-FFF2-40B4-BE49-F238E27FC236}">
                <a16:creationId xmlns:a16="http://schemas.microsoft.com/office/drawing/2014/main" id="{F50D1F4C-B568-42D4-9909-1864CC6BC6AF}"/>
              </a:ext>
            </a:extLst>
          </p:cNvPr>
          <p:cNvSpPr>
            <a:spLocks xmlns:a="http://schemas.openxmlformats.org/drawingml/2006/main" noGrp="1"/>
          </p:cNvSpPr>
          <p:nvPr/>
        </p:nvSpPr>
        <p:spPr>
          <a:xfrm xmlns:a="http://schemas.openxmlformats.org/drawingml/2006/main">
            <a:off x="609600" y="4324350"/>
            <a:ext cx="5238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C59946"/>
                </a:solidFill>
                <a:latin typeface="Arial"/>
                <a:ea typeface="Arial"/>
                <a:cs typeface="Arial"/>
              </a:defRPr>
            </a:pPr>
            <a:r>
              <a:rPr sz="1950" b="1">
                <a:solidFill>
                  <a:srgbClr val="C59946"/>
                </a:solidFill>
                <a:latin typeface="Arial"/>
                <a:ea typeface="Arial"/>
                <a:cs typeface="Arial"/>
              </a:rPr>
              <a:t>03</a:t>
            </a:r>
          </a:p>
        </p:txBody>
      </p:sp>
      <p:sp>
        <p:nvSpPr>
          <p:cNvPr id="8" name="">
            <a:extLst xmlns:a="http://schemas.openxmlformats.org/drawingml/2006/main">
              <a:ext uri="{FF2B5EF4-FFF2-40B4-BE49-F238E27FC236}">
                <a16:creationId xmlns:a16="http://schemas.microsoft.com/office/drawing/2014/main" id="{A63C7F08-97D4-4F4B-AF04-73611A1778B2}"/>
              </a:ext>
            </a:extLst>
          </p:cNvPr>
          <p:cNvSpPr>
            <a:spLocks xmlns:a="http://schemas.openxmlformats.org/drawingml/2006/main" noGrp="1"/>
          </p:cNvSpPr>
          <p:nvPr/>
        </p:nvSpPr>
        <p:spPr>
          <a:xfrm xmlns:a="http://schemas.openxmlformats.org/drawingml/2006/main">
            <a:off x="1362075" y="4257675"/>
            <a:ext cx="6477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101C2E"/>
                </a:solidFill>
                <a:latin typeface="Arial"/>
                <a:ea typeface="Arial"/>
                <a:cs typeface="Arial"/>
              </a:defRPr>
            </a:pPr>
            <a:r>
              <a:rPr sz="2325" b="0">
                <a:solidFill>
                  <a:srgbClr val="101C2E"/>
                </a:solidFill>
                <a:latin typeface="Arial"/>
                <a:ea typeface="Arial"/>
                <a:cs typeface="Arial"/>
              </a:rPr>
              <a:t>Prüfung von Partnern und Projekten</a:t>
            </a:r>
          </a:p>
        </p:txBody>
      </p:sp>
      <p:sp>
        <p:nvSpPr>
          <p:cNvPr id="9" name="">
            <a:extLst xmlns:a="http://schemas.openxmlformats.org/drawingml/2006/main">
              <a:ext uri="{FF2B5EF4-FFF2-40B4-BE49-F238E27FC236}">
                <a16:creationId xmlns:a16="http://schemas.microsoft.com/office/drawing/2014/main" id="{0192A8B3-C86D-446E-A624-7D718954AE31}"/>
              </a:ext>
            </a:extLst>
          </p:cNvPr>
          <p:cNvSpPr>
            <a:spLocks xmlns:a="http://schemas.openxmlformats.org/drawingml/2006/main" noGrp="1"/>
          </p:cNvSpPr>
          <p:nvPr/>
        </p:nvSpPr>
        <p:spPr>
          <a:xfrm xmlns:a="http://schemas.openxmlformats.org/drawingml/2006/main">
            <a:off x="609600" y="5162550"/>
            <a:ext cx="5238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C59946"/>
                </a:solidFill>
                <a:latin typeface="Arial"/>
                <a:ea typeface="Arial"/>
                <a:cs typeface="Arial"/>
              </a:defRPr>
            </a:pPr>
            <a:r>
              <a:rPr sz="1950" b="1">
                <a:solidFill>
                  <a:srgbClr val="C59946"/>
                </a:solidFill>
                <a:latin typeface="Arial"/>
                <a:ea typeface="Arial"/>
                <a:cs typeface="Arial"/>
              </a:rPr>
              <a:t>04</a:t>
            </a:r>
          </a:p>
        </p:txBody>
      </p:sp>
      <p:sp>
        <p:nvSpPr>
          <p:cNvPr id="10" name="">
            <a:extLst xmlns:a="http://schemas.openxmlformats.org/drawingml/2006/main">
              <a:ext uri="{FF2B5EF4-FFF2-40B4-BE49-F238E27FC236}">
                <a16:creationId xmlns:a16="http://schemas.microsoft.com/office/drawing/2014/main" id="{5C3D47CA-265B-4956-9071-AF017DB1D5CC}"/>
              </a:ext>
            </a:extLst>
          </p:cNvPr>
          <p:cNvSpPr>
            <a:spLocks xmlns:a="http://schemas.openxmlformats.org/drawingml/2006/main" noGrp="1"/>
          </p:cNvSpPr>
          <p:nvPr/>
        </p:nvSpPr>
        <p:spPr>
          <a:xfrm xmlns:a="http://schemas.openxmlformats.org/drawingml/2006/main">
            <a:off x="1362075" y="5095875"/>
            <a:ext cx="6477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101C2E"/>
                </a:solidFill>
                <a:latin typeface="Arial"/>
                <a:ea typeface="Arial"/>
                <a:cs typeface="Arial"/>
              </a:defRPr>
            </a:pPr>
            <a:r>
              <a:rPr sz="2325" b="0">
                <a:solidFill>
                  <a:srgbClr val="101C2E"/>
                </a:solidFill>
                <a:latin typeface="Arial"/>
                <a:ea typeface="Arial"/>
                <a:cs typeface="Arial"/>
              </a:rPr>
              <a:t>Unterstützung bei Compliance und ESG</a:t>
            </a:r>
          </a:p>
        </p:txBody>
      </p:sp>
      <p:pic>
        <p:nvPicPr>
          <p:cNvPr id="22" name=""/>
          <p:cNvPicPr>
            <a:picLocks xmlns:a="http://schemas.openxmlformats.org/drawingml/2006/main" noChangeAspect="1"/>
          </p:cNvPicPr>
          <p:nvPr/>
        </p:nvPicPr>
        <p:blipFill>
          <a:blip xmlns:r="http://schemas.openxmlformats.org/officeDocument/2006/relationships" xmlns:a="http://schemas.openxmlformats.org/drawingml/2006/main" r:embed="Rd3fbc8052378493d"/>
          <a:srcRect xmlns:a="http://schemas.openxmlformats.org/drawingml/2006/main" l="18815" t="0" r="18815" b="0"/>
          <a:stretch xmlns:a="http://schemas.openxmlformats.org/drawingml/2006/main">
            <a:fillRect l="0" t="0" r="0" b="0"/>
          </a:stretch>
        </p:blipFill>
        <p:spPr>
          <a:xfrm xmlns:a="http://schemas.openxmlformats.org/drawingml/2006/main">
            <a:off x="8524875" y="2476500"/>
            <a:ext cx="3057525" cy="3676650"/>
          </a:xfrm>
          <a:prstGeom xmlns:a="http://schemas.openxmlformats.org/drawingml/2006/main" prst="rect">
            <a:avLst/>
          </a:prstGeom>
        </p:spPr>
      </p:pic>
    </p:spTree>
    <p:extLst>
      <p:ext uri="{BB962C8B-B14F-4D97-AF65-F5344CB8AC3E}">
        <p14:creationId xmlns:p14="http://schemas.microsoft.com/office/powerpoint/2010/main" val="383009982"/>
      </p:ext>
    </p:extLst>
  </p:cSld>
</p:sld>
</file>

<file path=ppt/slides/slide3.xml><?xml version="1.0" encoding="utf-8"?>
<p:sld xmlns:p="http://schemas.openxmlformats.org/presentationml/2006/main">
  <p:cSld>
    <p:bg>
      <p:bgPr>
        <a:solidFill xmlns:a="http://schemas.openxmlformats.org/drawingml/2006/main">
          <a:srgbClr val="F7F7F4"/>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96129889-2296-4B8D-8BFC-9240F99D26D7}"/>
              </a:ext>
            </a:extLst>
          </p:cNvPr>
          <p:cNvSpPr>
            <a:spLocks xmlns:a="http://schemas.openxmlformats.org/drawingml/2006/main" noGrp="1"/>
          </p:cNvSpPr>
          <p:nvPr/>
        </p:nvSpPr>
        <p:spPr>
          <a:xfrm xmlns:a="http://schemas.openxmlformats.org/drawingml/2006/main">
            <a:off x="609600" y="476250"/>
            <a:ext cx="6191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01C2E"/>
                </a:solidFill>
                <a:latin typeface="Arial"/>
                <a:ea typeface="Arial"/>
                <a:cs typeface="Arial"/>
              </a:defRPr>
            </a:pPr>
            <a:r>
              <a:rPr sz="2100" b="1">
                <a:solidFill>
                  <a:srgbClr val="101C2E"/>
                </a:solidFill>
                <a:latin typeface="Arial"/>
                <a:ea typeface="Arial"/>
                <a:cs typeface="Arial"/>
              </a:rPr>
              <a:t>GOTHAM CONSULT</a:t>
            </a:r>
          </a:p>
        </p:txBody>
      </p:sp>
      <p:sp>
        <p:nvSpPr>
          <p:cNvPr id="2" name="">
            <a:extLst xmlns:a="http://schemas.openxmlformats.org/drawingml/2006/main">
              <a:ext uri="{FF2B5EF4-FFF2-40B4-BE49-F238E27FC236}">
                <a16:creationId xmlns:a16="http://schemas.microsoft.com/office/drawing/2014/main" id="{01C98CEB-2047-4B74-AFEC-C8EC084EA125}"/>
              </a:ext>
            </a:extLst>
          </p:cNvPr>
          <p:cNvSpPr>
            <a:spLocks xmlns:a="http://schemas.openxmlformats.org/drawingml/2006/main" noGrp="1"/>
          </p:cNvSpPr>
          <p:nvPr/>
        </p:nvSpPr>
        <p:spPr>
          <a:xfrm xmlns:a="http://schemas.openxmlformats.org/drawingml/2006/main">
            <a:off x="609600" y="1314450"/>
            <a:ext cx="1090612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200" b="1">
                <a:solidFill>
                  <a:srgbClr val="101C2E"/>
                </a:solidFill>
                <a:latin typeface="Arial"/>
                <a:ea typeface="Arial"/>
                <a:cs typeface="Arial"/>
              </a:defRPr>
            </a:pPr>
            <a:r>
              <a:rPr sz="4200" b="1">
                <a:solidFill>
                  <a:srgbClr val="101C2E"/>
                </a:solidFill>
                <a:latin typeface="Arial"/>
                <a:ea typeface="Arial"/>
                <a:cs typeface="Arial"/>
              </a:rPr>
              <a:t>KI, digitale und kreative Leistungen</a:t>
            </a:r>
          </a:p>
        </p:txBody>
      </p:sp>
      <p:sp>
        <p:nvSpPr>
          <p:cNvPr id="3" name="">
            <a:extLst xmlns:a="http://schemas.openxmlformats.org/drawingml/2006/main">
              <a:ext uri="{FF2B5EF4-FFF2-40B4-BE49-F238E27FC236}">
                <a16:creationId xmlns:a16="http://schemas.microsoft.com/office/drawing/2014/main" id="{45F0C792-BBC3-4AF5-A305-B7423B5BA12B}"/>
              </a:ext>
            </a:extLst>
          </p:cNvPr>
          <p:cNvSpPr>
            <a:spLocks xmlns:a="http://schemas.openxmlformats.org/drawingml/2006/main" noGrp="1"/>
          </p:cNvSpPr>
          <p:nvPr/>
        </p:nvSpPr>
        <p:spPr>
          <a:xfrm xmlns:a="http://schemas.openxmlformats.org/drawingml/2006/main">
            <a:off x="609600" y="2647950"/>
            <a:ext cx="5238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C59946"/>
                </a:solidFill>
                <a:latin typeface="Arial"/>
                <a:ea typeface="Arial"/>
                <a:cs typeface="Arial"/>
              </a:defRPr>
            </a:pPr>
            <a:r>
              <a:rPr sz="1950" b="1">
                <a:solidFill>
                  <a:srgbClr val="C59946"/>
                </a:solidFill>
                <a:latin typeface="Arial"/>
                <a:ea typeface="Arial"/>
                <a:cs typeface="Arial"/>
              </a:rPr>
              <a:t>01</a:t>
            </a:r>
          </a:p>
        </p:txBody>
      </p:sp>
      <p:sp>
        <p:nvSpPr>
          <p:cNvPr id="4" name="">
            <a:extLst xmlns:a="http://schemas.openxmlformats.org/drawingml/2006/main">
              <a:ext uri="{FF2B5EF4-FFF2-40B4-BE49-F238E27FC236}">
                <a16:creationId xmlns:a16="http://schemas.microsoft.com/office/drawing/2014/main" id="{8246D159-E8B6-4619-8C13-522B0A5A1A56}"/>
              </a:ext>
            </a:extLst>
          </p:cNvPr>
          <p:cNvSpPr>
            <a:spLocks xmlns:a="http://schemas.openxmlformats.org/drawingml/2006/main" noGrp="1"/>
          </p:cNvSpPr>
          <p:nvPr/>
        </p:nvSpPr>
        <p:spPr>
          <a:xfrm xmlns:a="http://schemas.openxmlformats.org/drawingml/2006/main">
            <a:off x="1362075" y="2581275"/>
            <a:ext cx="6477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101C2E"/>
                </a:solidFill>
                <a:latin typeface="Arial"/>
                <a:ea typeface="Arial"/>
                <a:cs typeface="Arial"/>
              </a:defRPr>
            </a:pPr>
            <a:r>
              <a:rPr sz="2325" b="0">
                <a:solidFill>
                  <a:srgbClr val="101C2E"/>
                </a:solidFill>
                <a:latin typeface="Arial"/>
                <a:ea typeface="Arial"/>
                <a:cs typeface="Arial"/>
              </a:rPr>
              <a:t>KI-Bestandsaufnahme und Mitarbeiterschulung</a:t>
            </a:r>
          </a:p>
        </p:txBody>
      </p:sp>
      <p:sp>
        <p:nvSpPr>
          <p:cNvPr id="5" name="">
            <a:extLst xmlns:a="http://schemas.openxmlformats.org/drawingml/2006/main">
              <a:ext uri="{FF2B5EF4-FFF2-40B4-BE49-F238E27FC236}">
                <a16:creationId xmlns:a16="http://schemas.microsoft.com/office/drawing/2014/main" id="{3E65E8F0-C129-4028-903B-617BBB2AAC88}"/>
              </a:ext>
            </a:extLst>
          </p:cNvPr>
          <p:cNvSpPr>
            <a:spLocks xmlns:a="http://schemas.openxmlformats.org/drawingml/2006/main" noGrp="1"/>
          </p:cNvSpPr>
          <p:nvPr/>
        </p:nvSpPr>
        <p:spPr>
          <a:xfrm xmlns:a="http://schemas.openxmlformats.org/drawingml/2006/main">
            <a:off x="609600" y="3486150"/>
            <a:ext cx="5238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C59946"/>
                </a:solidFill>
                <a:latin typeface="Arial"/>
                <a:ea typeface="Arial"/>
                <a:cs typeface="Arial"/>
              </a:defRPr>
            </a:pPr>
            <a:r>
              <a:rPr sz="1950" b="1">
                <a:solidFill>
                  <a:srgbClr val="C59946"/>
                </a:solidFill>
                <a:latin typeface="Arial"/>
                <a:ea typeface="Arial"/>
                <a:cs typeface="Arial"/>
              </a:rPr>
              <a:t>02</a:t>
            </a:r>
          </a:p>
        </p:txBody>
      </p:sp>
      <p:sp>
        <p:nvSpPr>
          <p:cNvPr id="6" name="">
            <a:extLst xmlns:a="http://schemas.openxmlformats.org/drawingml/2006/main">
              <a:ext uri="{FF2B5EF4-FFF2-40B4-BE49-F238E27FC236}">
                <a16:creationId xmlns:a16="http://schemas.microsoft.com/office/drawing/2014/main" id="{0ED9CEF4-1EB6-41E8-AF31-A033AA5022CE}"/>
              </a:ext>
            </a:extLst>
          </p:cNvPr>
          <p:cNvSpPr>
            <a:spLocks xmlns:a="http://schemas.openxmlformats.org/drawingml/2006/main" noGrp="1"/>
          </p:cNvSpPr>
          <p:nvPr/>
        </p:nvSpPr>
        <p:spPr>
          <a:xfrm xmlns:a="http://schemas.openxmlformats.org/drawingml/2006/main">
            <a:off x="1362075" y="3419475"/>
            <a:ext cx="6477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101C2E"/>
                </a:solidFill>
                <a:latin typeface="Arial"/>
                <a:ea typeface="Arial"/>
                <a:cs typeface="Arial"/>
              </a:defRPr>
            </a:pPr>
            <a:r>
              <a:rPr sz="2325" b="0">
                <a:solidFill>
                  <a:srgbClr val="101C2E"/>
                </a:solidFill>
                <a:latin typeface="Arial"/>
                <a:ea typeface="Arial"/>
                <a:cs typeface="Arial"/>
              </a:rPr>
              <a:t>Automatisierung von Finanzen und Berichten</a:t>
            </a:r>
          </a:p>
        </p:txBody>
      </p:sp>
      <p:sp>
        <p:nvSpPr>
          <p:cNvPr id="7" name="">
            <a:extLst xmlns:a="http://schemas.openxmlformats.org/drawingml/2006/main">
              <a:ext uri="{FF2B5EF4-FFF2-40B4-BE49-F238E27FC236}">
                <a16:creationId xmlns:a16="http://schemas.microsoft.com/office/drawing/2014/main" id="{4236D75D-E9CC-4985-8936-DA3B648983A4}"/>
              </a:ext>
            </a:extLst>
          </p:cNvPr>
          <p:cNvSpPr>
            <a:spLocks xmlns:a="http://schemas.openxmlformats.org/drawingml/2006/main" noGrp="1"/>
          </p:cNvSpPr>
          <p:nvPr/>
        </p:nvSpPr>
        <p:spPr>
          <a:xfrm xmlns:a="http://schemas.openxmlformats.org/drawingml/2006/main">
            <a:off x="609600" y="4324350"/>
            <a:ext cx="5238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C59946"/>
                </a:solidFill>
                <a:latin typeface="Arial"/>
                <a:ea typeface="Arial"/>
                <a:cs typeface="Arial"/>
              </a:defRPr>
            </a:pPr>
            <a:r>
              <a:rPr sz="1950" b="1">
                <a:solidFill>
                  <a:srgbClr val="C59946"/>
                </a:solidFill>
                <a:latin typeface="Arial"/>
                <a:ea typeface="Arial"/>
                <a:cs typeface="Arial"/>
              </a:rPr>
              <a:t>03</a:t>
            </a:r>
          </a:p>
        </p:txBody>
      </p:sp>
      <p:sp>
        <p:nvSpPr>
          <p:cNvPr id="8" name="">
            <a:extLst xmlns:a="http://schemas.openxmlformats.org/drawingml/2006/main">
              <a:ext uri="{FF2B5EF4-FFF2-40B4-BE49-F238E27FC236}">
                <a16:creationId xmlns:a16="http://schemas.microsoft.com/office/drawing/2014/main" id="{4428AC8A-7963-4D61-BE08-BF56A1E7E31D}"/>
              </a:ext>
            </a:extLst>
          </p:cNvPr>
          <p:cNvSpPr>
            <a:spLocks xmlns:a="http://schemas.openxmlformats.org/drawingml/2006/main" noGrp="1"/>
          </p:cNvSpPr>
          <p:nvPr/>
        </p:nvSpPr>
        <p:spPr>
          <a:xfrm xmlns:a="http://schemas.openxmlformats.org/drawingml/2006/main">
            <a:off x="1362075" y="4257675"/>
            <a:ext cx="6477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101C2E"/>
                </a:solidFill>
                <a:latin typeface="Arial"/>
                <a:ea typeface="Arial"/>
                <a:cs typeface="Arial"/>
              </a:defRPr>
            </a:pPr>
            <a:r>
              <a:rPr sz="2325" b="0">
                <a:solidFill>
                  <a:srgbClr val="101C2E"/>
                </a:solidFill>
                <a:latin typeface="Arial"/>
                <a:ea typeface="Arial"/>
                <a:cs typeface="Arial"/>
              </a:rPr>
              <a:t>Websites, Apps und betreutes Hosting</a:t>
            </a:r>
          </a:p>
        </p:txBody>
      </p:sp>
      <p:sp>
        <p:nvSpPr>
          <p:cNvPr id="9" name="">
            <a:extLst xmlns:a="http://schemas.openxmlformats.org/drawingml/2006/main">
              <a:ext uri="{FF2B5EF4-FFF2-40B4-BE49-F238E27FC236}">
                <a16:creationId xmlns:a16="http://schemas.microsoft.com/office/drawing/2014/main" id="{1AE00DAF-9398-4C72-8E70-58E1C7F2CB34}"/>
              </a:ext>
            </a:extLst>
          </p:cNvPr>
          <p:cNvSpPr>
            <a:spLocks xmlns:a="http://schemas.openxmlformats.org/drawingml/2006/main" noGrp="1"/>
          </p:cNvSpPr>
          <p:nvPr/>
        </p:nvSpPr>
        <p:spPr>
          <a:xfrm xmlns:a="http://schemas.openxmlformats.org/drawingml/2006/main">
            <a:off x="609600" y="5162550"/>
            <a:ext cx="5238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C59946"/>
                </a:solidFill>
                <a:latin typeface="Arial"/>
                <a:ea typeface="Arial"/>
                <a:cs typeface="Arial"/>
              </a:defRPr>
            </a:pPr>
            <a:r>
              <a:rPr sz="1950" b="1">
                <a:solidFill>
                  <a:srgbClr val="C59946"/>
                </a:solidFill>
                <a:latin typeface="Arial"/>
                <a:ea typeface="Arial"/>
                <a:cs typeface="Arial"/>
              </a:rPr>
              <a:t>04</a:t>
            </a:r>
          </a:p>
        </p:txBody>
      </p:sp>
      <p:sp>
        <p:nvSpPr>
          <p:cNvPr id="10" name="">
            <a:extLst xmlns:a="http://schemas.openxmlformats.org/drawingml/2006/main">
              <a:ext uri="{FF2B5EF4-FFF2-40B4-BE49-F238E27FC236}">
                <a16:creationId xmlns:a16="http://schemas.microsoft.com/office/drawing/2014/main" id="{A72C5F8D-89EC-44EA-B04D-086A888F0D12}"/>
              </a:ext>
            </a:extLst>
          </p:cNvPr>
          <p:cNvSpPr>
            <a:spLocks xmlns:a="http://schemas.openxmlformats.org/drawingml/2006/main" noGrp="1"/>
          </p:cNvSpPr>
          <p:nvPr/>
        </p:nvSpPr>
        <p:spPr>
          <a:xfrm xmlns:a="http://schemas.openxmlformats.org/drawingml/2006/main">
            <a:off x="1362075" y="5095875"/>
            <a:ext cx="6477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101C2E"/>
                </a:solidFill>
                <a:latin typeface="Arial"/>
                <a:ea typeface="Arial"/>
                <a:cs typeface="Arial"/>
              </a:defRPr>
            </a:pPr>
            <a:r>
              <a:rPr sz="2325" b="0">
                <a:solidFill>
                  <a:srgbClr val="101C2E"/>
                </a:solidFill>
                <a:latin typeface="Arial"/>
                <a:ea typeface="Arial"/>
                <a:cs typeface="Arial"/>
              </a:rPr>
              <a:t>Jingles, Werbung und Sprecheraufnahmen</a:t>
            </a:r>
          </a:p>
        </p:txBody>
      </p:sp>
      <p:pic>
        <p:nvPicPr>
          <p:cNvPr id="22" name=""/>
          <p:cNvPicPr>
            <a:picLocks xmlns:a="http://schemas.openxmlformats.org/drawingml/2006/main" noChangeAspect="1"/>
          </p:cNvPicPr>
          <p:nvPr/>
        </p:nvPicPr>
        <p:blipFill>
          <a:blip xmlns:r="http://schemas.openxmlformats.org/officeDocument/2006/relationships" xmlns:a="http://schemas.openxmlformats.org/drawingml/2006/main" r:embed="R07bbbfb481a04c10"/>
          <a:srcRect xmlns:a="http://schemas.openxmlformats.org/drawingml/2006/main" l="26611" t="0" r="26611" b="0"/>
          <a:stretch xmlns:a="http://schemas.openxmlformats.org/drawingml/2006/main">
            <a:fillRect l="0" t="0" r="0" b="0"/>
          </a:stretch>
        </p:blipFill>
        <p:spPr>
          <a:xfrm xmlns:a="http://schemas.openxmlformats.org/drawingml/2006/main">
            <a:off x="8524875" y="2476500"/>
            <a:ext cx="3057525" cy="3676650"/>
          </a:xfrm>
          <a:prstGeom xmlns:a="http://schemas.openxmlformats.org/drawingml/2006/main" prst="rect">
            <a:avLst/>
          </a:prstGeom>
        </p:spPr>
      </p:pic>
    </p:spTree>
    <p:extLst>
      <p:ext uri="{BB962C8B-B14F-4D97-AF65-F5344CB8AC3E}">
        <p14:creationId xmlns:p14="http://schemas.microsoft.com/office/powerpoint/2010/main" val="1015830014"/>
      </p:ext>
    </p:extLst>
  </p:cSld>
</p:sld>
</file>

<file path=ppt/slides/slide4.xml><?xml version="1.0" encoding="utf-8"?>
<p:sld xmlns:p="http://schemas.openxmlformats.org/presentationml/2006/main">
  <p:cSld>
    <p:bg>
      <p:bgPr>
        <a:solidFill xmlns:a="http://schemas.openxmlformats.org/drawingml/2006/main">
          <a:srgbClr val="F7F7F4"/>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0B8EB612-6161-483C-B53D-35CF0F81DC6A}"/>
              </a:ext>
            </a:extLst>
          </p:cNvPr>
          <p:cNvSpPr>
            <a:spLocks xmlns:a="http://schemas.openxmlformats.org/drawingml/2006/main" noGrp="1"/>
          </p:cNvSpPr>
          <p:nvPr/>
        </p:nvSpPr>
        <p:spPr>
          <a:xfrm xmlns:a="http://schemas.openxmlformats.org/drawingml/2006/main">
            <a:off x="609600" y="476250"/>
            <a:ext cx="6191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01C2E"/>
                </a:solidFill>
                <a:latin typeface="Arial"/>
                <a:ea typeface="Arial"/>
                <a:cs typeface="Arial"/>
              </a:defRPr>
            </a:pPr>
            <a:r>
              <a:rPr sz="2100" b="1">
                <a:solidFill>
                  <a:srgbClr val="101C2E"/>
                </a:solidFill>
                <a:latin typeface="Arial"/>
                <a:ea typeface="Arial"/>
                <a:cs typeface="Arial"/>
              </a:rPr>
              <a:t>GOTHAM CONSULT</a:t>
            </a:r>
          </a:p>
        </p:txBody>
      </p:sp>
      <p:sp>
        <p:nvSpPr>
          <p:cNvPr id="2" name="">
            <a:extLst xmlns:a="http://schemas.openxmlformats.org/drawingml/2006/main">
              <a:ext uri="{FF2B5EF4-FFF2-40B4-BE49-F238E27FC236}">
                <a16:creationId xmlns:a16="http://schemas.microsoft.com/office/drawing/2014/main" id="{DBD664A8-F319-4AAD-B469-199D043BC6B6}"/>
              </a:ext>
            </a:extLst>
          </p:cNvPr>
          <p:cNvSpPr>
            <a:spLocks xmlns:a="http://schemas.openxmlformats.org/drawingml/2006/main" noGrp="1"/>
          </p:cNvSpPr>
          <p:nvPr/>
        </p:nvSpPr>
        <p:spPr>
          <a:xfrm xmlns:a="http://schemas.openxmlformats.org/drawingml/2006/main">
            <a:off x="609600" y="1314450"/>
            <a:ext cx="1090612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200" b="1">
                <a:solidFill>
                  <a:srgbClr val="101C2E"/>
                </a:solidFill>
                <a:latin typeface="Arial"/>
                <a:ea typeface="Arial"/>
                <a:cs typeface="Arial"/>
              </a:defRPr>
            </a:pPr>
            <a:r>
              <a:rPr sz="4200" b="1">
                <a:solidFill>
                  <a:srgbClr val="101C2E"/>
                </a:solidFill>
                <a:latin typeface="Arial"/>
                <a:ea typeface="Arial"/>
                <a:cs typeface="Arial"/>
              </a:rPr>
              <a:t>Projekte und Partnerschaften</a:t>
            </a:r>
          </a:p>
        </p:txBody>
      </p:sp>
      <p:sp>
        <p:nvSpPr>
          <p:cNvPr id="3" name="">
            <a:extLst xmlns:a="http://schemas.openxmlformats.org/drawingml/2006/main">
              <a:ext uri="{FF2B5EF4-FFF2-40B4-BE49-F238E27FC236}">
                <a16:creationId xmlns:a16="http://schemas.microsoft.com/office/drawing/2014/main" id="{D2127BE4-5471-43D8-AF24-E86F8963A52A}"/>
              </a:ext>
            </a:extLst>
          </p:cNvPr>
          <p:cNvSpPr>
            <a:spLocks xmlns:a="http://schemas.openxmlformats.org/drawingml/2006/main" noGrp="1"/>
          </p:cNvSpPr>
          <p:nvPr/>
        </p:nvSpPr>
        <p:spPr>
          <a:xfrm xmlns:a="http://schemas.openxmlformats.org/drawingml/2006/main">
            <a:off x="609600" y="2647950"/>
            <a:ext cx="5238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C59946"/>
                </a:solidFill>
                <a:latin typeface="Arial"/>
                <a:ea typeface="Arial"/>
                <a:cs typeface="Arial"/>
              </a:defRPr>
            </a:pPr>
            <a:r>
              <a:rPr sz="1950" b="1">
                <a:solidFill>
                  <a:srgbClr val="C59946"/>
                </a:solidFill>
                <a:latin typeface="Arial"/>
                <a:ea typeface="Arial"/>
                <a:cs typeface="Arial"/>
              </a:rPr>
              <a:t>01</a:t>
            </a:r>
          </a:p>
        </p:txBody>
      </p:sp>
      <p:sp>
        <p:nvSpPr>
          <p:cNvPr id="4" name="">
            <a:extLst xmlns:a="http://schemas.openxmlformats.org/drawingml/2006/main">
              <a:ext uri="{FF2B5EF4-FFF2-40B4-BE49-F238E27FC236}">
                <a16:creationId xmlns:a16="http://schemas.microsoft.com/office/drawing/2014/main" id="{6C156BAA-D78B-442E-BE94-95F588A3CDA5}"/>
              </a:ext>
            </a:extLst>
          </p:cNvPr>
          <p:cNvSpPr>
            <a:spLocks xmlns:a="http://schemas.openxmlformats.org/drawingml/2006/main" noGrp="1"/>
          </p:cNvSpPr>
          <p:nvPr/>
        </p:nvSpPr>
        <p:spPr>
          <a:xfrm xmlns:a="http://schemas.openxmlformats.org/drawingml/2006/main">
            <a:off x="1362075" y="2581275"/>
            <a:ext cx="6477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101C2E"/>
                </a:solidFill>
                <a:latin typeface="Arial"/>
                <a:ea typeface="Arial"/>
                <a:cs typeface="Arial"/>
              </a:defRPr>
            </a:pPr>
            <a:r>
              <a:rPr sz="2325" b="0">
                <a:solidFill>
                  <a:srgbClr val="101C2E"/>
                </a:solidFill>
                <a:latin typeface="Arial"/>
                <a:ea typeface="Arial"/>
                <a:cs typeface="Arial"/>
              </a:rPr>
              <a:t>Energie, Bergbau und Infrastruktur</a:t>
            </a:r>
          </a:p>
        </p:txBody>
      </p:sp>
      <p:sp>
        <p:nvSpPr>
          <p:cNvPr id="5" name="">
            <a:extLst xmlns:a="http://schemas.openxmlformats.org/drawingml/2006/main">
              <a:ext uri="{FF2B5EF4-FFF2-40B4-BE49-F238E27FC236}">
                <a16:creationId xmlns:a16="http://schemas.microsoft.com/office/drawing/2014/main" id="{D5F42412-EC9B-431B-BE2C-0BFD16174423}"/>
              </a:ext>
            </a:extLst>
          </p:cNvPr>
          <p:cNvSpPr>
            <a:spLocks xmlns:a="http://schemas.openxmlformats.org/drawingml/2006/main" noGrp="1"/>
          </p:cNvSpPr>
          <p:nvPr/>
        </p:nvSpPr>
        <p:spPr>
          <a:xfrm xmlns:a="http://schemas.openxmlformats.org/drawingml/2006/main">
            <a:off x="609600" y="3486150"/>
            <a:ext cx="5238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C59946"/>
                </a:solidFill>
                <a:latin typeface="Arial"/>
                <a:ea typeface="Arial"/>
                <a:cs typeface="Arial"/>
              </a:defRPr>
            </a:pPr>
            <a:r>
              <a:rPr sz="1950" b="1">
                <a:solidFill>
                  <a:srgbClr val="C59946"/>
                </a:solidFill>
                <a:latin typeface="Arial"/>
                <a:ea typeface="Arial"/>
                <a:cs typeface="Arial"/>
              </a:rPr>
              <a:t>02</a:t>
            </a:r>
          </a:p>
        </p:txBody>
      </p:sp>
      <p:sp>
        <p:nvSpPr>
          <p:cNvPr id="6" name="">
            <a:extLst xmlns:a="http://schemas.openxmlformats.org/drawingml/2006/main">
              <a:ext uri="{FF2B5EF4-FFF2-40B4-BE49-F238E27FC236}">
                <a16:creationId xmlns:a16="http://schemas.microsoft.com/office/drawing/2014/main" id="{079BD2E6-797C-4D7D-A4BE-02A537586D98}"/>
              </a:ext>
            </a:extLst>
          </p:cNvPr>
          <p:cNvSpPr>
            <a:spLocks xmlns:a="http://schemas.openxmlformats.org/drawingml/2006/main" noGrp="1"/>
          </p:cNvSpPr>
          <p:nvPr/>
        </p:nvSpPr>
        <p:spPr>
          <a:xfrm xmlns:a="http://schemas.openxmlformats.org/drawingml/2006/main">
            <a:off x="1362075" y="3419475"/>
            <a:ext cx="6477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101C2E"/>
                </a:solidFill>
                <a:latin typeface="Arial"/>
                <a:ea typeface="Arial"/>
                <a:cs typeface="Arial"/>
              </a:defRPr>
            </a:pPr>
            <a:r>
              <a:rPr sz="2325" b="0">
                <a:solidFill>
                  <a:srgbClr val="101C2E"/>
                </a:solidFill>
                <a:latin typeface="Arial"/>
                <a:ea typeface="Arial"/>
                <a:cs typeface="Arial"/>
              </a:rPr>
              <a:t>Bildung und Schulentwicklung</a:t>
            </a:r>
          </a:p>
        </p:txBody>
      </p:sp>
      <p:sp>
        <p:nvSpPr>
          <p:cNvPr id="7" name="">
            <a:extLst xmlns:a="http://schemas.openxmlformats.org/drawingml/2006/main">
              <a:ext uri="{FF2B5EF4-FFF2-40B4-BE49-F238E27FC236}">
                <a16:creationId xmlns:a16="http://schemas.microsoft.com/office/drawing/2014/main" id="{5D9249A3-64E9-47FB-83EA-CF96298BFD53}"/>
              </a:ext>
            </a:extLst>
          </p:cNvPr>
          <p:cNvSpPr>
            <a:spLocks xmlns:a="http://schemas.openxmlformats.org/drawingml/2006/main" noGrp="1"/>
          </p:cNvSpPr>
          <p:nvPr/>
        </p:nvSpPr>
        <p:spPr>
          <a:xfrm xmlns:a="http://schemas.openxmlformats.org/drawingml/2006/main">
            <a:off x="609600" y="4324350"/>
            <a:ext cx="5238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C59946"/>
                </a:solidFill>
                <a:latin typeface="Arial"/>
                <a:ea typeface="Arial"/>
                <a:cs typeface="Arial"/>
              </a:defRPr>
            </a:pPr>
            <a:r>
              <a:rPr sz="1950" b="1">
                <a:solidFill>
                  <a:srgbClr val="C59946"/>
                </a:solidFill>
                <a:latin typeface="Arial"/>
                <a:ea typeface="Arial"/>
                <a:cs typeface="Arial"/>
              </a:rPr>
              <a:t>03</a:t>
            </a:r>
          </a:p>
        </p:txBody>
      </p:sp>
      <p:sp>
        <p:nvSpPr>
          <p:cNvPr id="8" name="">
            <a:extLst xmlns:a="http://schemas.openxmlformats.org/drawingml/2006/main">
              <a:ext uri="{FF2B5EF4-FFF2-40B4-BE49-F238E27FC236}">
                <a16:creationId xmlns:a16="http://schemas.microsoft.com/office/drawing/2014/main" id="{497DBA07-3C6F-4879-9480-6F7215ED699F}"/>
              </a:ext>
            </a:extLst>
          </p:cNvPr>
          <p:cNvSpPr>
            <a:spLocks xmlns:a="http://schemas.openxmlformats.org/drawingml/2006/main" noGrp="1"/>
          </p:cNvSpPr>
          <p:nvPr/>
        </p:nvSpPr>
        <p:spPr>
          <a:xfrm xmlns:a="http://schemas.openxmlformats.org/drawingml/2006/main">
            <a:off x="1362075" y="4257675"/>
            <a:ext cx="6477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101C2E"/>
                </a:solidFill>
                <a:latin typeface="Arial"/>
                <a:ea typeface="Arial"/>
                <a:cs typeface="Arial"/>
              </a:defRPr>
            </a:pPr>
            <a:r>
              <a:rPr sz="2325" b="0">
                <a:solidFill>
                  <a:srgbClr val="101C2E"/>
                </a:solidFill>
                <a:latin typeface="Arial"/>
                <a:ea typeface="Arial"/>
                <a:cs typeface="Arial"/>
              </a:rPr>
              <a:t>Unterstützung für Senioren und Familien</a:t>
            </a:r>
          </a:p>
        </p:txBody>
      </p:sp>
      <p:sp>
        <p:nvSpPr>
          <p:cNvPr id="9" name="">
            <a:extLst xmlns:a="http://schemas.openxmlformats.org/drawingml/2006/main">
              <a:ext uri="{FF2B5EF4-FFF2-40B4-BE49-F238E27FC236}">
                <a16:creationId xmlns:a16="http://schemas.microsoft.com/office/drawing/2014/main" id="{15CCECF4-BA17-4821-BC41-59473C26C74E}"/>
              </a:ext>
            </a:extLst>
          </p:cNvPr>
          <p:cNvSpPr>
            <a:spLocks xmlns:a="http://schemas.openxmlformats.org/drawingml/2006/main" noGrp="1"/>
          </p:cNvSpPr>
          <p:nvPr/>
        </p:nvSpPr>
        <p:spPr>
          <a:xfrm xmlns:a="http://schemas.openxmlformats.org/drawingml/2006/main">
            <a:off x="609600" y="5162550"/>
            <a:ext cx="5238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C59946"/>
                </a:solidFill>
                <a:latin typeface="Arial"/>
                <a:ea typeface="Arial"/>
                <a:cs typeface="Arial"/>
              </a:defRPr>
            </a:pPr>
            <a:r>
              <a:rPr sz="1950" b="1">
                <a:solidFill>
                  <a:srgbClr val="C59946"/>
                </a:solidFill>
                <a:latin typeface="Arial"/>
                <a:ea typeface="Arial"/>
                <a:cs typeface="Arial"/>
              </a:rPr>
              <a:t>04</a:t>
            </a:r>
          </a:p>
        </p:txBody>
      </p:sp>
      <p:sp>
        <p:nvSpPr>
          <p:cNvPr id="10" name="">
            <a:extLst xmlns:a="http://schemas.openxmlformats.org/drawingml/2006/main">
              <a:ext uri="{FF2B5EF4-FFF2-40B4-BE49-F238E27FC236}">
                <a16:creationId xmlns:a16="http://schemas.microsoft.com/office/drawing/2014/main" id="{31A5F525-A56F-4744-8A2E-B9B5FFCCBA3D}"/>
              </a:ext>
            </a:extLst>
          </p:cNvPr>
          <p:cNvSpPr>
            <a:spLocks xmlns:a="http://schemas.openxmlformats.org/drawingml/2006/main" noGrp="1"/>
          </p:cNvSpPr>
          <p:nvPr/>
        </p:nvSpPr>
        <p:spPr>
          <a:xfrm xmlns:a="http://schemas.openxmlformats.org/drawingml/2006/main">
            <a:off x="1362075" y="5095875"/>
            <a:ext cx="6477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101C2E"/>
                </a:solidFill>
                <a:latin typeface="Arial"/>
                <a:ea typeface="Arial"/>
                <a:cs typeface="Arial"/>
              </a:defRPr>
            </a:pPr>
            <a:r>
              <a:rPr sz="2325" b="0">
                <a:solidFill>
                  <a:srgbClr val="101C2E"/>
                </a:solidFill>
                <a:latin typeface="Arial"/>
                <a:ea typeface="Arial"/>
                <a:cs typeface="Arial"/>
              </a:rPr>
              <a:t>Wirtschaftsforen, Medien und Investorentreffen</a:t>
            </a:r>
          </a:p>
        </p:txBody>
      </p:sp>
      <p:pic>
        <p:nvPicPr>
          <p:cNvPr id="22" name=""/>
          <p:cNvPicPr>
            <a:picLocks xmlns:a="http://schemas.openxmlformats.org/drawingml/2006/main" noChangeAspect="1"/>
          </p:cNvPicPr>
          <p:nvPr/>
        </p:nvPicPr>
        <p:blipFill>
          <a:blip xmlns:r="http://schemas.openxmlformats.org/officeDocument/2006/relationships" xmlns:a="http://schemas.openxmlformats.org/drawingml/2006/main" r:embed="Rd8f6b03a19d0447f"/>
          <a:srcRect xmlns:a="http://schemas.openxmlformats.org/drawingml/2006/main" l="26611" t="0" r="26611" b="0"/>
          <a:stretch xmlns:a="http://schemas.openxmlformats.org/drawingml/2006/main">
            <a:fillRect l="0" t="0" r="0" b="0"/>
          </a:stretch>
        </p:blipFill>
        <p:spPr>
          <a:xfrm xmlns:a="http://schemas.openxmlformats.org/drawingml/2006/main">
            <a:off x="8524875" y="2476500"/>
            <a:ext cx="3057525" cy="3676650"/>
          </a:xfrm>
          <a:prstGeom xmlns:a="http://schemas.openxmlformats.org/drawingml/2006/main" prst="rect">
            <a:avLst/>
          </a:prstGeom>
        </p:spPr>
      </p:pic>
    </p:spTree>
    <p:extLst>
      <p:ext uri="{BB962C8B-B14F-4D97-AF65-F5344CB8AC3E}">
        <p14:creationId xmlns:p14="http://schemas.microsoft.com/office/powerpoint/2010/main" val="994591777"/>
      </p:ext>
    </p:extLst>
  </p:cSld>
</p:sld>
</file>

<file path=ppt/slides/slide5.xml><?xml version="1.0" encoding="utf-8"?>
<p:sld xmlns:p="http://schemas.openxmlformats.org/presentationml/2006/main">
  <p:cSld>
    <p:bg>
      <p:bgPr>
        <a:solidFill xmlns:a="http://schemas.openxmlformats.org/drawingml/2006/main">
          <a:srgbClr val="101C2E"/>
        </a:solidFill>
      </p:bgPr>
    </p:bg>
    <p:spTree>
      <p:nvGrpSpPr>
        <p:cNvPr id="1" name=""/>
        <p:cNvGrpSpPr/>
        <p:nvPr/>
      </p:nvGrpSpPr>
      <p:grpSpPr>
        <a:xfrm xmlns:a="http://schemas.openxmlformats.org/drawingml/2006/main"/>
      </p:grpSpPr>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06c90d57072e421e"/>
          <a:stretch xmlns:a="http://schemas.openxmlformats.org/drawingml/2006/main"/>
        </p:blipFill>
        <p:spPr>
          <a:xfrm xmlns:a="http://schemas.openxmlformats.org/drawingml/2006/main">
            <a:off x="620390" y="381000"/>
            <a:ext cx="530870" cy="55245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7377E6DA-814C-459A-92B8-51BA639506B6}"/>
              </a:ext>
            </a:extLst>
          </p:cNvPr>
          <p:cNvSpPr>
            <a:spLocks xmlns:a="http://schemas.openxmlformats.org/drawingml/2006/main" noGrp="1"/>
          </p:cNvSpPr>
          <p:nvPr/>
        </p:nvSpPr>
        <p:spPr>
          <a:xfrm xmlns:a="http://schemas.openxmlformats.org/drawingml/2006/main">
            <a:off x="1333500" y="476250"/>
            <a:ext cx="6191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FFFFFF"/>
                </a:solidFill>
                <a:latin typeface="Arial"/>
                <a:ea typeface="Arial"/>
                <a:cs typeface="Arial"/>
              </a:defRPr>
            </a:pPr>
            <a:r>
              <a:rPr sz="2100" b="1">
                <a:solidFill>
                  <a:srgbClr val="FFFFFF"/>
                </a:solidFill>
                <a:latin typeface="Arial"/>
                <a:ea typeface="Arial"/>
                <a:cs typeface="Arial"/>
              </a:rPr>
              <a:t>GOTHAM CONSULT</a:t>
            </a:r>
          </a:p>
        </p:txBody>
      </p:sp>
      <p:sp>
        <p:nvSpPr>
          <p:cNvPr id="3" name="">
            <a:extLst xmlns:a="http://schemas.openxmlformats.org/drawingml/2006/main">
              <a:ext uri="{FF2B5EF4-FFF2-40B4-BE49-F238E27FC236}">
                <a16:creationId xmlns:a16="http://schemas.microsoft.com/office/drawing/2014/main" id="{5ED251CB-3DD4-4A55-8225-8DC1DEC43730}"/>
              </a:ext>
            </a:extLst>
          </p:cNvPr>
          <p:cNvSpPr>
            <a:spLocks xmlns:a="http://schemas.openxmlformats.org/drawingml/2006/main" noGrp="1"/>
          </p:cNvSpPr>
          <p:nvPr/>
        </p:nvSpPr>
        <p:spPr>
          <a:xfrm xmlns:a="http://schemas.openxmlformats.org/drawingml/2006/main">
            <a:off x="609600" y="1295400"/>
            <a:ext cx="1100137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050" b="1">
                <a:solidFill>
                  <a:srgbClr val="FFFFFF"/>
                </a:solidFill>
                <a:latin typeface="Arial"/>
                <a:ea typeface="Arial"/>
                <a:cs typeface="Arial"/>
              </a:defRPr>
            </a:pPr>
            <a:r>
              <a:rPr sz="4050" b="1">
                <a:solidFill>
                  <a:srgbClr val="FFFFFF"/>
                </a:solidFill>
                <a:latin typeface="Arial"/>
                <a:ea typeface="Arial"/>
                <a:cs typeface="Arial"/>
              </a:rPr>
              <a:t>Mit Gotham in Verbindung bleiben</a:t>
            </a:r>
          </a:p>
        </p:txBody>
      </p:sp>
      <p:sp>
        <p:nvSpPr>
          <p:cNvPr id="4" name="">
            <a:extLst xmlns:a="http://schemas.openxmlformats.org/drawingml/2006/main">
              <a:ext uri="{FF2B5EF4-FFF2-40B4-BE49-F238E27FC236}">
                <a16:creationId xmlns:a16="http://schemas.microsoft.com/office/drawing/2014/main" id="{3E7BD03B-A89C-4CC1-BF19-0AED3F40FCCE}"/>
              </a:ext>
            </a:extLst>
          </p:cNvPr>
          <p:cNvSpPr>
            <a:spLocks xmlns:a="http://schemas.openxmlformats.org/drawingml/2006/main" noGrp="1"/>
          </p:cNvSpPr>
          <p:nvPr/>
        </p:nvSpPr>
        <p:spPr>
          <a:xfrm xmlns:a="http://schemas.openxmlformats.org/drawingml/2006/main">
            <a:off x="1066800" y="2276475"/>
            <a:ext cx="4762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FFFFFF"/>
                </a:solidFill>
                <a:latin typeface="Arial"/>
                <a:ea typeface="Arial"/>
                <a:cs typeface="Arial"/>
              </a:defRPr>
            </a:pPr>
            <a:r>
              <a:rPr sz="2550" b="1">
                <a:solidFill>
                  <a:srgbClr val="FFFFFF"/>
                </a:solidFill>
                <a:latin typeface="Arial"/>
                <a:ea typeface="Arial"/>
                <a:cs typeface="Arial"/>
              </a:rPr>
              <a:t>Leistungen entdecken</a:t>
            </a:r>
          </a:p>
        </p:txBody>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522190278eac4501"/>
          <a:stretch xmlns:a="http://schemas.openxmlformats.org/drawingml/2006/main"/>
        </p:blipFill>
        <p:spPr>
          <a:xfrm xmlns:a="http://schemas.openxmlformats.org/drawingml/2006/main">
            <a:off x="1352550" y="2895600"/>
            <a:ext cx="3143250" cy="314325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21201724-A3D5-4356-949E-322934C2708F}"/>
              </a:ext>
            </a:extLst>
          </p:cNvPr>
          <p:cNvSpPr>
            <a:spLocks xmlns:a="http://schemas.openxmlformats.org/drawingml/2006/main" noGrp="1"/>
          </p:cNvSpPr>
          <p:nvPr/>
        </p:nvSpPr>
        <p:spPr>
          <a:xfrm xmlns:a="http://schemas.openxmlformats.org/drawingml/2006/main">
            <a:off x="1257300" y="6191250"/>
            <a:ext cx="4286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FFFFFF"/>
                </a:solidFill>
                <a:latin typeface="Arial"/>
                <a:ea typeface="Arial"/>
                <a:cs typeface="Arial"/>
              </a:defRPr>
            </a:pPr>
            <a:r>
              <a:rPr sz="1950" b="0">
                <a:solidFill>
                  <a:srgbClr val="FFFFFF"/>
                </a:solidFill>
                <a:latin typeface="Arial"/>
                <a:ea typeface="Arial"/>
                <a:cs typeface="Arial"/>
              </a:rPr>
              <a:t>gothamconsult.com</a:t>
            </a:r>
          </a:p>
        </p:txBody>
      </p:sp>
      <p:sp>
        <p:nvSpPr>
          <p:cNvPr id="7" name="">
            <a:extLst xmlns:a="http://schemas.openxmlformats.org/drawingml/2006/main">
              <a:ext uri="{FF2B5EF4-FFF2-40B4-BE49-F238E27FC236}">
                <a16:creationId xmlns:a16="http://schemas.microsoft.com/office/drawing/2014/main" id="{9ED8884B-4C71-4802-8036-8FD5F6A91520}"/>
              </a:ext>
            </a:extLst>
          </p:cNvPr>
          <p:cNvSpPr>
            <a:spLocks xmlns:a="http://schemas.openxmlformats.org/drawingml/2006/main" noGrp="1"/>
          </p:cNvSpPr>
          <p:nvPr/>
        </p:nvSpPr>
        <p:spPr>
          <a:xfrm xmlns:a="http://schemas.openxmlformats.org/drawingml/2006/main">
            <a:off x="6905625" y="2276475"/>
            <a:ext cx="4762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FFFFFF"/>
                </a:solidFill>
                <a:latin typeface="Arial"/>
                <a:ea typeface="Arial"/>
                <a:cs typeface="Arial"/>
              </a:defRPr>
            </a:pPr>
            <a:r>
              <a:rPr sz="2550" b="1">
                <a:solidFill>
                  <a:srgbClr val="FFFFFF"/>
                </a:solidFill>
                <a:latin typeface="Arial"/>
                <a:ea typeface="Arial"/>
                <a:cs typeface="Arial"/>
              </a:rPr>
              <a:t>Folgen Sie uns auf LinkedIn</a:t>
            </a:r>
          </a:p>
        </p:txBody>
      </p:sp>
      <p:pic>
        <p:nvPicPr>
          <p:cNvPr id="17" name=""/>
          <p:cNvPicPr>
            <a:picLocks xmlns:a="http://schemas.openxmlformats.org/drawingml/2006/main" noChangeAspect="1"/>
          </p:cNvPicPr>
          <p:nvPr/>
        </p:nvPicPr>
        <p:blipFill>
          <a:blip xmlns:r="http://schemas.openxmlformats.org/officeDocument/2006/relationships" xmlns:a="http://schemas.openxmlformats.org/drawingml/2006/main" r:embed="R9bba81b9d5134422"/>
          <a:stretch xmlns:a="http://schemas.openxmlformats.org/drawingml/2006/main"/>
        </p:blipFill>
        <p:spPr>
          <a:xfrm xmlns:a="http://schemas.openxmlformats.org/drawingml/2006/main">
            <a:off x="7191375" y="2895600"/>
            <a:ext cx="3143250" cy="3143250"/>
          </a:xfrm>
          <a:prstGeom xmlns:a="http://schemas.openxmlformats.org/drawingml/2006/main" prst="rect">
            <a:avLst/>
          </a:prstGeom>
        </p:spPr>
      </p:pic>
      <p:sp>
        <p:nvSpPr>
          <p:cNvPr id="9" name="">
            <a:extLst xmlns:a="http://schemas.openxmlformats.org/drawingml/2006/main">
              <a:ext uri="{FF2B5EF4-FFF2-40B4-BE49-F238E27FC236}">
                <a16:creationId xmlns:a16="http://schemas.microsoft.com/office/drawing/2014/main" id="{380C685A-2394-4927-A239-A71D25CF7B96}"/>
              </a:ext>
            </a:extLst>
          </p:cNvPr>
          <p:cNvSpPr>
            <a:spLocks xmlns:a="http://schemas.openxmlformats.org/drawingml/2006/main" noGrp="1"/>
          </p:cNvSpPr>
          <p:nvPr/>
        </p:nvSpPr>
        <p:spPr>
          <a:xfrm xmlns:a="http://schemas.openxmlformats.org/drawingml/2006/main">
            <a:off x="7096125" y="6191250"/>
            <a:ext cx="4286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FFFFFF"/>
                </a:solidFill>
                <a:latin typeface="Arial"/>
                <a:ea typeface="Arial"/>
                <a:cs typeface="Arial"/>
              </a:defRPr>
            </a:pPr>
            <a:r>
              <a:rPr sz="1950" b="0">
                <a:solidFill>
                  <a:srgbClr val="FFFFFF"/>
                </a:solidFill>
                <a:latin typeface="Arial"/>
                <a:ea typeface="Arial"/>
                <a:cs typeface="Arial"/>
              </a:rPr>
              <a:t>Gotham Consult</a:t>
            </a:r>
          </a:p>
        </p:txBody>
      </p:sp>
    </p:spTree>
    <p:extLst>
      <p:ext uri="{BB962C8B-B14F-4D97-AF65-F5344CB8AC3E}">
        <p14:creationId xmlns:p14="http://schemas.microsoft.com/office/powerpoint/2010/main" val="151306002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2026-10-07T15:02:55.3700000Z</dcterms:created>
  <dcterms:modified xsi:type="dcterms:W3CDTF">2026-10-07T15:02:55.3700000Z</dcterms:modified>
</coreProperties>
</file>