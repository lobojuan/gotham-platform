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d693fd1e974ac0" /><Relationship Type="http://schemas.openxmlformats.org/officeDocument/2006/relationships/extended-properties" Target="/docProps/app.xml" Id="R76d5f902e081449d" /><Relationship Type="http://schemas.openxmlformats.org/officeDocument/2006/relationships/officeDocument" Target="/ppt/presentation.xml" Id="R01b117a93d6b4c47" /></Relationships>
</file>

<file path=ppt/presentation.xml><?xml version="1.0" encoding="utf-8"?>
<p:presentation xmlns:p="http://schemas.openxmlformats.org/presentationml/2006/main">
  <p:sldMasterIdLst>
    <p:sldMasterId xmlns:r="http://schemas.openxmlformats.org/officeDocument/2006/relationships" id="2147483648" r:id="R58660421e1634902"/>
  </p:sldMasterIdLst>
  <p:notesMasterIdLst>
    <p:notesMasterId xmlns:r="http://schemas.openxmlformats.org/officeDocument/2006/relationships" r:id="Ra9e015ecf32f469d"/>
  </p:notesMasterIdLst>
  <p:sldIdLst>
    <p:sldId xmlns:r="http://schemas.openxmlformats.org/officeDocument/2006/relationships" id="256" r:id="R44264e82225a4244"/>
    <p:sldId xmlns:r="http://schemas.openxmlformats.org/officeDocument/2006/relationships" id="257" r:id="R002b6ee499c64868"/>
    <p:sldId xmlns:r="http://schemas.openxmlformats.org/officeDocument/2006/relationships" id="258" r:id="Re086c8c188634c49"/>
    <p:sldId xmlns:r="http://schemas.openxmlformats.org/officeDocument/2006/relationships" id="259" r:id="Rd76cd10a942a457d"/>
    <p:sldId xmlns:r="http://schemas.openxmlformats.org/officeDocument/2006/relationships" id="260" r:id="R480b4067df9744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cc9cd558db4c87" /><Relationship Type="http://schemas.openxmlformats.org/officeDocument/2006/relationships/slideMaster" Target="/ppt/slideMasters/slideMaster1.xml" Id="R58660421e1634902" /><Relationship Type="http://schemas.openxmlformats.org/officeDocument/2006/relationships/notesMaster" Target="/ppt/notesMasters/notesMaster1.xml" Id="Ra9e015ecf32f469d" /><Relationship Type="http://schemas.openxmlformats.org/officeDocument/2006/relationships/presProps" Target="/ppt/presProps.xml" Id="Raa84cefcd01d48ac" /><Relationship Type="http://schemas.openxmlformats.org/officeDocument/2006/relationships/tableStyles" Target="/ppt/tableStyles.xml" Id="R0bb5d527bebd4778" /><Relationship Type="http://schemas.openxmlformats.org/officeDocument/2006/relationships/slide" Target="/ppt/slides/slide1.xml" Id="R44264e82225a4244" /><Relationship Type="http://schemas.openxmlformats.org/officeDocument/2006/relationships/slide" Target="/ppt/slides/slide2.xml" Id="R002b6ee499c64868" /><Relationship Type="http://schemas.openxmlformats.org/officeDocument/2006/relationships/slide" Target="/ppt/slides/slide3.xml" Id="Re086c8c188634c49" /><Relationship Type="http://schemas.openxmlformats.org/officeDocument/2006/relationships/slide" Target="/ppt/slides/slide4.xml" Id="Rd76cd10a942a457d" /><Relationship Type="http://schemas.openxmlformats.org/officeDocument/2006/relationships/slide" Target="/ppt/slides/slide5.xml" Id="R480b4067df9744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2dafbec6b542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017d3af5434690" /><Relationship Type="http://schemas.openxmlformats.org/officeDocument/2006/relationships/notesMaster" Target="/ppt/notesMasters/notesMaster1.xml" Id="Rd82b7852caa946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26aca29354490c" /><Relationship Type="http://schemas.openxmlformats.org/officeDocument/2006/relationships/notesMaster" Target="/ppt/notesMasters/notesMaster1.xml" Id="Ra2e20b0b318d4f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3420d6bcdd45da" /><Relationship Type="http://schemas.openxmlformats.org/officeDocument/2006/relationships/notesMaster" Target="/ppt/notesMasters/notesMaster1.xml" Id="Ra58314f6b0e042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bcd951af34d33" /><Relationship Type="http://schemas.openxmlformats.org/officeDocument/2006/relationships/notesMaster" Target="/ppt/notesMasters/notesMaster1.xml" Id="R1428df32f06442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e91678d52647ef" /><Relationship Type="http://schemas.openxmlformats.org/officeDocument/2006/relationships/notesMaster" Target="/ppt/notesMasters/notesMaster1.xml" Id="R44a14cbccba341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Gotham Consult as an Accra-based business development and international projects consultancy. Explain that the next slides describe the services already published on the site. Cover photo is the existing Gotham website Airport City image.</a:t>
            </a:r>
          </a:p>
          <a:p xmlns:a="http://schemas.openxmlformats.org/drawingml/2006/main">
            <a:r>
              <a:t>Published service source: https://gothamconsult.com/about</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client’s sector and stage. Company setup, investment readiness, market entry and compliance support are delivered with professional partners where required. Do not imply guaranteed funding or regulatory approval.</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live website chatbot as an example if internet is available. Scope each automation with the client. Do not claim that a certified GRA integration, automatic bank feeds or a complete payroll system have already been delivered. Technology image comes from existing website assets.</a:t>
            </a:r>
          </a:p>
          <a:p xmlns:a="http://schemas.openxmlformats.org/drawingml/2006/main">
            <a:r>
              <a:t>Published service source: https://gothamconsult.com/services/ai</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published service areas. Explain that specialist lawyers, geologists and engineers join projects where needed. Family support is practical coordination, not an unsupported medical-service promise. Forum image is an existing public website asset.</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on screen after the talk so the audience can scan. The first QR opens the public website, including services, forums and the chatbot. The second opens the LinkedIn company page linked in the website footer. Invite people to follow the page in LinkedIn; scanning alone does not follow an account. Phone: +233 55 041 6627. Email: info@gothamconsult.com.</a:t>
            </a:r>
          </a:p>
          <a:p xmlns:a="http://schemas.openxmlformats.org/drawingml/2006/main">
            <a:r>
              <a:t>Published service source: https://gothamconsult.com/</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5c8f191dd74c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cd6f5c0bc342b5" /><Relationship Type="http://schemas.openxmlformats.org/officeDocument/2006/relationships/slideLayout" Target="/ppt/slideLayouts/slideLayout1.xml" Id="Rd885082334f244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85082334f244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b409b6847a41a1" /><Relationship Type="http://schemas.openxmlformats.org/officeDocument/2006/relationships/image" Target="/ppt/media/image.png" Id="R2674dc6246a24c67" /><Relationship Type="http://schemas.openxmlformats.org/officeDocument/2006/relationships/image" Target="/ppt/media/image2.png" Id="R7a97a4031f804cbe" /><Relationship Type="http://schemas.openxmlformats.org/officeDocument/2006/relationships/notesSlide" Target="/ppt/notesSlides/notesSlide1.xml" Id="Rb75e6381874d46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d04e9877cd41e9" /><Relationship Type="http://schemas.openxmlformats.org/officeDocument/2006/relationships/image" Target="/ppt/media/image3.png" Id="R1c8fcae9bbfa4286" /><Relationship Type="http://schemas.openxmlformats.org/officeDocument/2006/relationships/notesSlide" Target="/ppt/notesSlides/notesSlide2.xml" Id="R2b898d45e95b4f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ca9a46d3e24a9c" /><Relationship Type="http://schemas.openxmlformats.org/officeDocument/2006/relationships/image" Target="/ppt/media/image4.png" Id="R671e14f927514f1a" /><Relationship Type="http://schemas.openxmlformats.org/officeDocument/2006/relationships/notesSlide" Target="/ppt/notesSlides/notesSlide3.xml" Id="Ra5d91a0b2a1b42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1dde54f43b45bf" /><Relationship Type="http://schemas.openxmlformats.org/officeDocument/2006/relationships/image" Target="/ppt/media/image5.png" Id="R4ee9d514e6b5494f" /><Relationship Type="http://schemas.openxmlformats.org/officeDocument/2006/relationships/notesSlide" Target="/ppt/notesSlides/notesSlide4.xml" Id="Rffabe0a38e5547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09ba558cc242d5" /><Relationship Type="http://schemas.openxmlformats.org/officeDocument/2006/relationships/image" Target="/ppt/media/image6.png" Id="R5ce2a3b275eb4d9c" /><Relationship Type="http://schemas.openxmlformats.org/officeDocument/2006/relationships/image" Target="/ppt/media/image7.png" Id="Rceed5e985a6f4187" /><Relationship Type="http://schemas.openxmlformats.org/officeDocument/2006/relationships/image" Target="/ppt/media/image8.png" Id="Rb870f4d0efcd49b9" /><Relationship Type="http://schemas.openxmlformats.org/officeDocument/2006/relationships/notesSlide" Target="/ppt/notesSlides/notesSlide5.xml" Id="Raa244d65e6d64645" /></Relationships>
</file>

<file path=ppt/slides/slide1.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74dc6246a24c67"/>
          <a:srcRect xmlns:a="http://schemas.openxmlformats.org/drawingml/2006/main" l="23958" t="0" r="23958"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97a4031f804cbe"/>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739CFC-4E54-4E72-A056-B94759826B79}"/>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4" name="">
            <a:extLst xmlns:a="http://schemas.openxmlformats.org/drawingml/2006/main">
              <a:ext uri="{FF2B5EF4-FFF2-40B4-BE49-F238E27FC236}">
                <a16:creationId xmlns:a16="http://schemas.microsoft.com/office/drawing/2014/main" id="{78736C2D-7838-40C7-BE3A-CE3F19A9A667}"/>
              </a:ext>
            </a:extLst>
          </p:cNvPr>
          <p:cNvSpPr>
            <a:spLocks xmlns:a="http://schemas.openxmlformats.org/drawingml/2006/main" noGrp="1"/>
          </p:cNvSpPr>
          <p:nvPr/>
        </p:nvSpPr>
        <p:spPr>
          <a:xfrm xmlns:a="http://schemas.openxmlformats.org/drawingml/2006/main">
            <a:off x="609600" y="2009775"/>
            <a:ext cx="647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Build partnerships</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in Ghana</a:t>
            </a:r>
          </a:p>
        </p:txBody>
      </p:sp>
      <p:sp>
        <p:nvSpPr>
          <p:cNvPr id="5" name="">
            <a:extLst xmlns:a="http://schemas.openxmlformats.org/drawingml/2006/main">
              <a:ext uri="{FF2B5EF4-FFF2-40B4-BE49-F238E27FC236}">
                <a16:creationId xmlns:a16="http://schemas.microsoft.com/office/drawing/2014/main" id="{F0239CB2-4059-4216-A4BB-DAB967F80D40}"/>
              </a:ext>
            </a:extLst>
          </p:cNvPr>
          <p:cNvSpPr>
            <a:spLocks xmlns:a="http://schemas.openxmlformats.org/drawingml/2006/main" noGrp="1"/>
          </p:cNvSpPr>
          <p:nvPr/>
        </p:nvSpPr>
        <p:spPr>
          <a:xfrm xmlns:a="http://schemas.openxmlformats.org/drawingml/2006/main">
            <a:off x="628650" y="465772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E4E8EF"/>
                </a:solidFill>
                <a:latin typeface="Arial"/>
                <a:ea typeface="Arial"/>
                <a:cs typeface="Arial"/>
              </a:defRPr>
            </a:pPr>
            <a:r>
              <a:rPr sz="2700" b="0">
                <a:solidFill>
                  <a:srgbClr val="E4E8EF"/>
                </a:solidFill>
                <a:latin typeface="Arial"/>
                <a:ea typeface="Arial"/>
                <a:cs typeface="Arial"/>
              </a:rPr>
              <a:t>Business advisory, technology</a:t>
            </a:r>
          </a:p>
          <a:p xmlns:a="http://schemas.openxmlformats.org/drawingml/2006/main">
            <a:pPr>
              <a:defRPr sz="2700" b="0">
                <a:solidFill>
                  <a:srgbClr val="E4E8EF"/>
                </a:solidFill>
                <a:latin typeface="Arial"/>
                <a:ea typeface="Arial"/>
                <a:cs typeface="Arial"/>
              </a:defRPr>
            </a:pPr>
            <a:r>
              <a:rPr sz="2700" b="0">
                <a:solidFill>
                  <a:srgbClr val="E4E8EF"/>
                </a:solidFill>
                <a:latin typeface="Arial"/>
                <a:ea typeface="Arial"/>
                <a:cs typeface="Arial"/>
              </a:rPr>
              <a:t>and international projects</a:t>
            </a:r>
          </a:p>
        </p:txBody>
      </p:sp>
      <p:sp>
        <p:nvSpPr>
          <p:cNvPr id="6" name="">
            <a:extLst xmlns:a="http://schemas.openxmlformats.org/drawingml/2006/main">
              <a:ext uri="{FF2B5EF4-FFF2-40B4-BE49-F238E27FC236}">
                <a16:creationId xmlns:a16="http://schemas.microsoft.com/office/drawing/2014/main" id="{FA249843-C9A2-4670-965A-5C3BCAB98209}"/>
              </a:ext>
            </a:extLst>
          </p:cNvPr>
          <p:cNvSpPr>
            <a:spLocks xmlns:a="http://schemas.openxmlformats.org/drawingml/2006/main" noGrp="1"/>
          </p:cNvSpPr>
          <p:nvPr/>
        </p:nvSpPr>
        <p:spPr>
          <a:xfrm xmlns:a="http://schemas.openxmlformats.org/drawingml/2006/main">
            <a:off x="628650" y="61245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59946"/>
                </a:solidFill>
                <a:latin typeface="Arial"/>
                <a:ea typeface="Arial"/>
                <a:cs typeface="Arial"/>
              </a:defRPr>
            </a:pPr>
            <a:r>
              <a:rPr sz="2100" b="0">
                <a:solidFill>
                  <a:srgbClr val="C59946"/>
                </a:solidFill>
                <a:latin typeface="Arial"/>
                <a:ea typeface="Arial"/>
                <a:cs typeface="Arial"/>
              </a:rPr>
              <a:t>gothamconsult.com</a:t>
            </a:r>
          </a:p>
        </p:txBody>
      </p:sp>
    </p:spTree>
    <p:extLst>
      <p:ext uri="{BB962C8B-B14F-4D97-AF65-F5344CB8AC3E}">
        <p14:creationId xmlns:p14="http://schemas.microsoft.com/office/powerpoint/2010/main" val="643187726"/>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32601B-5C28-4604-AF07-B86DCC107ADD}"/>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7BA17C41-300B-41D4-B3AA-9E1238B27F40}"/>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Business &amp; investment</a:t>
            </a:r>
          </a:p>
        </p:txBody>
      </p:sp>
      <p:sp>
        <p:nvSpPr>
          <p:cNvPr id="3" name="">
            <a:extLst xmlns:a="http://schemas.openxmlformats.org/drawingml/2006/main">
              <a:ext uri="{FF2B5EF4-FFF2-40B4-BE49-F238E27FC236}">
                <a16:creationId xmlns:a16="http://schemas.microsoft.com/office/drawing/2014/main" id="{34E72F5F-DD00-48DC-93C6-AC4E8C892350}"/>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83D9508-5F45-4C53-9663-085EB085457B}"/>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Company setup and market entry</a:t>
            </a:r>
          </a:p>
        </p:txBody>
      </p:sp>
      <p:sp>
        <p:nvSpPr>
          <p:cNvPr id="5" name="">
            <a:extLst xmlns:a="http://schemas.openxmlformats.org/drawingml/2006/main">
              <a:ext uri="{FF2B5EF4-FFF2-40B4-BE49-F238E27FC236}">
                <a16:creationId xmlns:a16="http://schemas.microsoft.com/office/drawing/2014/main" id="{F2FBE156-3B07-411E-92C9-40D4D1B9E42B}"/>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82D2340-5770-4F04-8200-F522CD810C6A}"/>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Business plans and financial models</a:t>
            </a:r>
          </a:p>
        </p:txBody>
      </p:sp>
      <p:sp>
        <p:nvSpPr>
          <p:cNvPr id="7" name="">
            <a:extLst xmlns:a="http://schemas.openxmlformats.org/drawingml/2006/main">
              <a:ext uri="{FF2B5EF4-FFF2-40B4-BE49-F238E27FC236}">
                <a16:creationId xmlns:a16="http://schemas.microsoft.com/office/drawing/2014/main" id="{3080E365-4B8D-4931-A169-AAA266988A85}"/>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587156EF-6C73-40CF-82BA-0BDDB4E62FE4}"/>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Partner and project due diligence</a:t>
            </a:r>
          </a:p>
        </p:txBody>
      </p:sp>
      <p:sp>
        <p:nvSpPr>
          <p:cNvPr id="9" name="">
            <a:extLst xmlns:a="http://schemas.openxmlformats.org/drawingml/2006/main">
              <a:ext uri="{FF2B5EF4-FFF2-40B4-BE49-F238E27FC236}">
                <a16:creationId xmlns:a16="http://schemas.microsoft.com/office/drawing/2014/main" id="{765E932E-F8AA-4EB9-A927-A972118B58FA}"/>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1A13A3BD-38E3-47E5-B8B0-8AF282EE6CBC}"/>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Compliance and ESG support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c8fcae9bbfa4286"/>
          <a:srcRect xmlns:a="http://schemas.openxmlformats.org/drawingml/2006/main" l="18815" t="0" r="18815"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626068181"/>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567DC7-D9F6-4404-AF9E-4AFD5D8CCCC6}"/>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CF900D48-F107-43E0-B788-145958F1EFAC}"/>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AI, digital &amp; creative services</a:t>
            </a:r>
          </a:p>
        </p:txBody>
      </p:sp>
      <p:sp>
        <p:nvSpPr>
          <p:cNvPr id="3" name="">
            <a:extLst xmlns:a="http://schemas.openxmlformats.org/drawingml/2006/main">
              <a:ext uri="{FF2B5EF4-FFF2-40B4-BE49-F238E27FC236}">
                <a16:creationId xmlns:a16="http://schemas.microsoft.com/office/drawing/2014/main" id="{AAF70D52-5685-4720-B106-A89BE2A4FEC1}"/>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69CBA3D-A5E7-44EC-849B-FFFA7A56BB1E}"/>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AI readiness audits and staff training</a:t>
            </a:r>
          </a:p>
        </p:txBody>
      </p:sp>
      <p:sp>
        <p:nvSpPr>
          <p:cNvPr id="5" name="">
            <a:extLst xmlns:a="http://schemas.openxmlformats.org/drawingml/2006/main">
              <a:ext uri="{FF2B5EF4-FFF2-40B4-BE49-F238E27FC236}">
                <a16:creationId xmlns:a16="http://schemas.microsoft.com/office/drawing/2014/main" id="{1D154AC0-1059-4B07-AFD8-7FD1C0375037}"/>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93B4280F-AD12-4ACC-BE8A-EAE7B65A4A9F}"/>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Finance and reporting automation</a:t>
            </a:r>
          </a:p>
        </p:txBody>
      </p:sp>
      <p:sp>
        <p:nvSpPr>
          <p:cNvPr id="7" name="">
            <a:extLst xmlns:a="http://schemas.openxmlformats.org/drawingml/2006/main">
              <a:ext uri="{FF2B5EF4-FFF2-40B4-BE49-F238E27FC236}">
                <a16:creationId xmlns:a16="http://schemas.microsoft.com/office/drawing/2014/main" id="{7F48D3DC-BB01-4556-9742-A52CCB6EE242}"/>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0018B767-A231-46F9-9190-943FBE0F246B}"/>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Websites, apps and managed hosting</a:t>
            </a:r>
          </a:p>
        </p:txBody>
      </p:sp>
      <p:sp>
        <p:nvSpPr>
          <p:cNvPr id="9" name="">
            <a:extLst xmlns:a="http://schemas.openxmlformats.org/drawingml/2006/main">
              <a:ext uri="{FF2B5EF4-FFF2-40B4-BE49-F238E27FC236}">
                <a16:creationId xmlns:a16="http://schemas.microsoft.com/office/drawing/2014/main" id="{438F653D-BB45-4535-9B36-83AFC019A3F8}"/>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4EEC8C0-088B-4C3D-B7D2-6ED599A8F3CB}"/>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Jingles, adverts and voiceovers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71e14f927514f1a"/>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1741075912"/>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A4E5D8-DA05-406B-9665-6724CEEB9382}"/>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CC5C36DF-D779-4C84-B673-0557767E6FD9}"/>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Projects, people &amp; partnerships</a:t>
            </a:r>
          </a:p>
        </p:txBody>
      </p:sp>
      <p:sp>
        <p:nvSpPr>
          <p:cNvPr id="3" name="">
            <a:extLst xmlns:a="http://schemas.openxmlformats.org/drawingml/2006/main">
              <a:ext uri="{FF2B5EF4-FFF2-40B4-BE49-F238E27FC236}">
                <a16:creationId xmlns:a16="http://schemas.microsoft.com/office/drawing/2014/main" id="{028B57E8-1A6B-46C6-A70D-2058E9A0F33C}"/>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485AEBE-5728-4FF6-AB8D-BDCE85D791BF}"/>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Energy, mining and infrastructure</a:t>
            </a:r>
          </a:p>
        </p:txBody>
      </p:sp>
      <p:sp>
        <p:nvSpPr>
          <p:cNvPr id="5" name="">
            <a:extLst xmlns:a="http://schemas.openxmlformats.org/drawingml/2006/main">
              <a:ext uri="{FF2B5EF4-FFF2-40B4-BE49-F238E27FC236}">
                <a16:creationId xmlns:a16="http://schemas.microsoft.com/office/drawing/2014/main" id="{E4065D3C-AA5C-40A0-BF4D-BBD40124CCFA}"/>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B6A47B7-7A29-41A3-B07F-1D605DA00543}"/>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Education and school development</a:t>
            </a:r>
          </a:p>
        </p:txBody>
      </p:sp>
      <p:sp>
        <p:nvSpPr>
          <p:cNvPr id="7" name="">
            <a:extLst xmlns:a="http://schemas.openxmlformats.org/drawingml/2006/main">
              <a:ext uri="{FF2B5EF4-FFF2-40B4-BE49-F238E27FC236}">
                <a16:creationId xmlns:a16="http://schemas.microsoft.com/office/drawing/2014/main" id="{B0B84754-4C6B-4357-BF13-1DAB03C62662}"/>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BD26752-969E-49E3-B374-091D5E059269}"/>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Senior citizens and family support</a:t>
            </a:r>
          </a:p>
        </p:txBody>
      </p:sp>
      <p:sp>
        <p:nvSpPr>
          <p:cNvPr id="9" name="">
            <a:extLst xmlns:a="http://schemas.openxmlformats.org/drawingml/2006/main">
              <a:ext uri="{FF2B5EF4-FFF2-40B4-BE49-F238E27FC236}">
                <a16:creationId xmlns:a16="http://schemas.microsoft.com/office/drawing/2014/main" id="{BF749B67-547C-4FEA-8568-BE93EE962F75}"/>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D64EDD7-4718-4EDD-8896-CFBF99B382CE}"/>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01C2E"/>
                </a:solidFill>
                <a:latin typeface="Arial"/>
                <a:ea typeface="Arial"/>
                <a:cs typeface="Arial"/>
              </a:defRPr>
            </a:pPr>
            <a:r>
              <a:rPr sz="2550" b="0">
                <a:solidFill>
                  <a:srgbClr val="101C2E"/>
                </a:solidFill>
                <a:latin typeface="Arial"/>
                <a:ea typeface="Arial"/>
                <a:cs typeface="Arial"/>
              </a:rPr>
              <a:t>Forums, media and investor roundtables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ee9d514e6b5494f"/>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626341583"/>
      </p:ext>
    </p:extLst>
  </p:cSld>
</p:sld>
</file>

<file path=ppt/slides/slide5.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ce2a3b275eb4d9c"/>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5135B2-B3D4-4D93-A05D-6401346D1C5F}"/>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3" name="">
            <a:extLst xmlns:a="http://schemas.openxmlformats.org/drawingml/2006/main">
              <a:ext uri="{FF2B5EF4-FFF2-40B4-BE49-F238E27FC236}">
                <a16:creationId xmlns:a16="http://schemas.microsoft.com/office/drawing/2014/main" id="{91812877-D710-4DA3-BFD8-7BF89395C439}"/>
              </a:ext>
            </a:extLst>
          </p:cNvPr>
          <p:cNvSpPr>
            <a:spLocks xmlns:a="http://schemas.openxmlformats.org/drawingml/2006/main" noGrp="1"/>
          </p:cNvSpPr>
          <p:nvPr/>
        </p:nvSpPr>
        <p:spPr>
          <a:xfrm xmlns:a="http://schemas.openxmlformats.org/drawingml/2006/main">
            <a:off x="609600" y="1295400"/>
            <a:ext cx="1100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Stay connected with Gotham</a:t>
            </a:r>
          </a:p>
        </p:txBody>
      </p:sp>
      <p:sp>
        <p:nvSpPr>
          <p:cNvPr id="4" name="">
            <a:extLst xmlns:a="http://schemas.openxmlformats.org/drawingml/2006/main">
              <a:ext uri="{FF2B5EF4-FFF2-40B4-BE49-F238E27FC236}">
                <a16:creationId xmlns:a16="http://schemas.microsoft.com/office/drawing/2014/main" id="{CBBDEE22-0FA0-45DD-8A0E-9BB20D6C0555}"/>
              </a:ext>
            </a:extLst>
          </p:cNvPr>
          <p:cNvSpPr>
            <a:spLocks xmlns:a="http://schemas.openxmlformats.org/drawingml/2006/main" noGrp="1"/>
          </p:cNvSpPr>
          <p:nvPr/>
        </p:nvSpPr>
        <p:spPr>
          <a:xfrm xmlns:a="http://schemas.openxmlformats.org/drawingml/2006/main">
            <a:off x="1066800"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Explore our services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eed5e985a6f4187"/>
          <a:stretch xmlns:a="http://schemas.openxmlformats.org/drawingml/2006/main"/>
        </p:blipFill>
        <p:spPr>
          <a:xfrm xmlns:a="http://schemas.openxmlformats.org/drawingml/2006/main">
            <a:off x="1352550" y="2895600"/>
            <a:ext cx="314325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5365C40-BC96-4D58-991E-5885DF3CA32A}"/>
              </a:ext>
            </a:extLst>
          </p:cNvPr>
          <p:cNvSpPr>
            <a:spLocks xmlns:a="http://schemas.openxmlformats.org/drawingml/2006/main" noGrp="1"/>
          </p:cNvSpPr>
          <p:nvPr/>
        </p:nvSpPr>
        <p:spPr>
          <a:xfrm xmlns:a="http://schemas.openxmlformats.org/drawingml/2006/main">
            <a:off x="1257300"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gothamconsult.com</a:t>
            </a:r>
          </a:p>
        </p:txBody>
      </p:sp>
      <p:sp>
        <p:nvSpPr>
          <p:cNvPr id="7" name="">
            <a:extLst xmlns:a="http://schemas.openxmlformats.org/drawingml/2006/main">
              <a:ext uri="{FF2B5EF4-FFF2-40B4-BE49-F238E27FC236}">
                <a16:creationId xmlns:a16="http://schemas.microsoft.com/office/drawing/2014/main" id="{94A39116-ACAF-47B5-9C29-368FCDE66C32}"/>
              </a:ext>
            </a:extLst>
          </p:cNvPr>
          <p:cNvSpPr>
            <a:spLocks xmlns:a="http://schemas.openxmlformats.org/drawingml/2006/main" noGrp="1"/>
          </p:cNvSpPr>
          <p:nvPr/>
        </p:nvSpPr>
        <p:spPr>
          <a:xfrm xmlns:a="http://schemas.openxmlformats.org/drawingml/2006/main">
            <a:off x="6905625"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Follow us on LinkedIn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870f4d0efcd49b9"/>
          <a:stretch xmlns:a="http://schemas.openxmlformats.org/drawingml/2006/main"/>
        </p:blipFill>
        <p:spPr>
          <a:xfrm xmlns:a="http://schemas.openxmlformats.org/drawingml/2006/main">
            <a:off x="7191375" y="2895600"/>
            <a:ext cx="314325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75791CF-AE31-4546-B1A8-A0B344A3324E}"/>
              </a:ext>
            </a:extLst>
          </p:cNvPr>
          <p:cNvSpPr>
            <a:spLocks xmlns:a="http://schemas.openxmlformats.org/drawingml/2006/main" noGrp="1"/>
          </p:cNvSpPr>
          <p:nvPr/>
        </p:nvSpPr>
        <p:spPr>
          <a:xfrm xmlns:a="http://schemas.openxmlformats.org/drawingml/2006/main">
            <a:off x="7096125"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 Consult</a:t>
            </a:r>
          </a:p>
        </p:txBody>
      </p:sp>
    </p:spTree>
    <p:extLst>
      <p:ext uri="{BB962C8B-B14F-4D97-AF65-F5344CB8AC3E}">
        <p14:creationId xmlns:p14="http://schemas.microsoft.com/office/powerpoint/2010/main" val="13686310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2026-10-05T17:32:55.9380000Z</dcterms:created>
  <dcterms:modified xsi:type="dcterms:W3CDTF">2026-10-05T17:32:55.9380000Z</dcterms:modified>
</coreProperties>
</file>