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6b81be1f314c34" /><Relationship Type="http://schemas.openxmlformats.org/officeDocument/2006/relationships/extended-properties" Target="/docProps/app.xml" Id="R44959fcc54c948c0" /><Relationship Type="http://schemas.openxmlformats.org/officeDocument/2006/relationships/officeDocument" Target="/ppt/presentation.xml" Id="Rfe2de2c8488d43d2" /></Relationships>
</file>

<file path=ppt/presentation.xml><?xml version="1.0" encoding="utf-8"?>
<p:presentation xmlns:p="http://schemas.openxmlformats.org/presentationml/2006/main">
  <p:sldMasterIdLst>
    <p:sldMasterId xmlns:r="http://schemas.openxmlformats.org/officeDocument/2006/relationships" id="2147483648" r:id="Rb57b895d96f64369"/>
  </p:sldMasterIdLst>
  <p:notesMasterIdLst>
    <p:notesMasterId xmlns:r="http://schemas.openxmlformats.org/officeDocument/2006/relationships" r:id="Rb01b788f848a4ca8"/>
  </p:notesMasterIdLst>
  <p:sldIdLst>
    <p:sldId xmlns:r="http://schemas.openxmlformats.org/officeDocument/2006/relationships" id="256" r:id="Rad7270cb19f14929"/>
    <p:sldId xmlns:r="http://schemas.openxmlformats.org/officeDocument/2006/relationships" id="257" r:id="R81505d09dded490f"/>
    <p:sldId xmlns:r="http://schemas.openxmlformats.org/officeDocument/2006/relationships" id="258" r:id="R0746d8a5da924610"/>
    <p:sldId xmlns:r="http://schemas.openxmlformats.org/officeDocument/2006/relationships" id="259" r:id="R1042f6ce45894132"/>
    <p:sldId xmlns:r="http://schemas.openxmlformats.org/officeDocument/2006/relationships" id="260" r:id="R6b67ebf0bbd74b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239777efbd403b" /><Relationship Type="http://schemas.openxmlformats.org/officeDocument/2006/relationships/slideMaster" Target="/ppt/slideMasters/slideMaster1.xml" Id="Rb57b895d96f64369" /><Relationship Type="http://schemas.openxmlformats.org/officeDocument/2006/relationships/notesMaster" Target="/ppt/notesMasters/notesMaster1.xml" Id="Rb01b788f848a4ca8" /><Relationship Type="http://schemas.openxmlformats.org/officeDocument/2006/relationships/presProps" Target="/ppt/presProps.xml" Id="R901b7ba785624a28" /><Relationship Type="http://schemas.openxmlformats.org/officeDocument/2006/relationships/tableStyles" Target="/ppt/tableStyles.xml" Id="R1e5887ad61b0456c" /><Relationship Type="http://schemas.openxmlformats.org/officeDocument/2006/relationships/slide" Target="/ppt/slides/slide1.xml" Id="Rad7270cb19f14929" /><Relationship Type="http://schemas.openxmlformats.org/officeDocument/2006/relationships/slide" Target="/ppt/slides/slide2.xml" Id="R81505d09dded490f" /><Relationship Type="http://schemas.openxmlformats.org/officeDocument/2006/relationships/slide" Target="/ppt/slides/slide3.xml" Id="R0746d8a5da924610" /><Relationship Type="http://schemas.openxmlformats.org/officeDocument/2006/relationships/slide" Target="/ppt/slides/slide4.xml" Id="R1042f6ce45894132" /><Relationship Type="http://schemas.openxmlformats.org/officeDocument/2006/relationships/slide" Target="/ppt/slides/slide5.xml" Id="R6b67ebf0bbd74b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0ecf2cc00c4a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f583d7846f46ae" /><Relationship Type="http://schemas.openxmlformats.org/officeDocument/2006/relationships/notesMaster" Target="/ppt/notesMasters/notesMaster1.xml" Id="R2f9f640016534f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7cb142324d4944" /><Relationship Type="http://schemas.openxmlformats.org/officeDocument/2006/relationships/notesMaster" Target="/ppt/notesMasters/notesMaster1.xml" Id="R6543444a94db42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8567d0e4b84ed8" /><Relationship Type="http://schemas.openxmlformats.org/officeDocument/2006/relationships/notesMaster" Target="/ppt/notesMasters/notesMaster1.xml" Id="R0de299b1ec4742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73c18078bb4819" /><Relationship Type="http://schemas.openxmlformats.org/officeDocument/2006/relationships/notesMaster" Target="/ppt/notesMasters/notesMaster1.xml" Id="R61b262e8855949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488d25baad4dab" /><Relationship Type="http://schemas.openxmlformats.org/officeDocument/2006/relationships/notesMaster" Target="/ppt/notesMasters/notesMaster1.xml" Id="Rc31bbc023e0945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Gotham Consult as an Accra-based business development and international projects consultancy. Explain that the next slides describe the services already published on the site. Cover photo is the existing Gotham website Airport City image.</a:t>
            </a:r>
          </a:p>
          <a:p xmlns:a="http://schemas.openxmlformats.org/drawingml/2006/main">
            <a:r>
              <a:t>Published service source: https://gothamconsult.com/about</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the client’s sector and stage. Company setup, investment readiness, market entry and compliance support are delivered with professional partners where required. Do not imply guaranteed funding or regulatory approval.</a:t>
            </a:r>
          </a:p>
          <a:p xmlns:a="http://schemas.openxmlformats.org/drawingml/2006/main">
            <a:r>
              <a:t>Published service source: https://gothamconsult.com/services</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live website chatbot as an example if internet is available. Scope each automation with the client. Do not claim that a certified GRA integration, automatic bank feeds or a complete payroll system have already been delivered. Technology image comes from existing website assets.</a:t>
            </a:r>
          </a:p>
          <a:p xmlns:a="http://schemas.openxmlformats.org/drawingml/2006/main">
            <a:r>
              <a:t>Published service source: https://gothamconsult.com/services/ai</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remaining published service areas. Explain that specialist lawyers, geologists and engineers join projects where needed. Family support is practical coordination, not an unsupported medical-service promise. Forum image is an existing public website asset.</a:t>
            </a:r>
          </a:p>
          <a:p xmlns:a="http://schemas.openxmlformats.org/drawingml/2006/main">
            <a:r>
              <a:t>Published service source: https://gothamconsult.com/services</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slide on screen after the talk so the audience can scan. The first QR opens the public website, including services, forums and the chatbot. The second opens the LinkedIn company page linked in the website footer. Invite people to follow the page in LinkedIn; scanning alone does not follow an account. Phone: +233 55 041 6627. Email: info@gothamconsult.com.</a:t>
            </a:r>
          </a:p>
          <a:p xmlns:a="http://schemas.openxmlformats.org/drawingml/2006/main">
            <a:r>
              <a:t>Published service source: https://gothamconsult.com/</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152bfd102240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1bf1d27dbf49a8" /><Relationship Type="http://schemas.openxmlformats.org/officeDocument/2006/relationships/slideLayout" Target="/ppt/slideLayouts/slideLayout1.xml" Id="R3180ddfe7eb44d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80ddfe7eb44d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05fa8cada94ee6" /><Relationship Type="http://schemas.openxmlformats.org/officeDocument/2006/relationships/image" Target="/ppt/media/image.png" Id="Rea6b93652cd44336" /><Relationship Type="http://schemas.openxmlformats.org/officeDocument/2006/relationships/image" Target="/ppt/media/image2.png" Id="R001e7122707c4920" /><Relationship Type="http://schemas.openxmlformats.org/officeDocument/2006/relationships/notesSlide" Target="/ppt/notesSlides/notesSlide1.xml" Id="R4ab091b523da4a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03bd13d6184a67" /><Relationship Type="http://schemas.openxmlformats.org/officeDocument/2006/relationships/image" Target="/ppt/media/image3.png" Id="R7bfead532f7c4829" /><Relationship Type="http://schemas.openxmlformats.org/officeDocument/2006/relationships/notesSlide" Target="/ppt/notesSlides/notesSlide2.xml" Id="Rc293ecd8cd6149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e5ba2fe81a468c" /><Relationship Type="http://schemas.openxmlformats.org/officeDocument/2006/relationships/image" Target="/ppt/media/image4.png" Id="Ra5ad5a4e12cb4750" /><Relationship Type="http://schemas.openxmlformats.org/officeDocument/2006/relationships/notesSlide" Target="/ppt/notesSlides/notesSlide3.xml" Id="R277b78ed4fb743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a8381a2b08468d" /><Relationship Type="http://schemas.openxmlformats.org/officeDocument/2006/relationships/image" Target="/ppt/media/image5.png" Id="R87f0e3f6790641d9" /><Relationship Type="http://schemas.openxmlformats.org/officeDocument/2006/relationships/notesSlide" Target="/ppt/notesSlides/notesSlide4.xml" Id="Rc0d0ae5a7e0a49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f8b86f28ef4118" /><Relationship Type="http://schemas.openxmlformats.org/officeDocument/2006/relationships/image" Target="/ppt/media/image6.png" Id="R53eabfb6ba794779" /><Relationship Type="http://schemas.openxmlformats.org/officeDocument/2006/relationships/image" Target="/ppt/media/image7.png" Id="R25f40f98ea5b4df7" /><Relationship Type="http://schemas.openxmlformats.org/officeDocument/2006/relationships/image" Target="/ppt/media/image8.png" Id="Rfb8de6859c9a4c88" /><Relationship Type="http://schemas.openxmlformats.org/officeDocument/2006/relationships/notesSlide" Target="/ppt/notesSlides/notesSlide5.xml" Id="R30159bc775a24f79" /></Relationships>
</file>

<file path=ppt/slides/slide1.xml><?xml version="1.0" encoding="utf-8"?>
<p:sld xmlns:p="http://schemas.openxmlformats.org/presentationml/2006/main">
  <p:cSld>
    <p:bg>
      <p:bgPr>
        <a:solidFill xmlns:a="http://schemas.openxmlformats.org/drawingml/2006/main">
          <a:srgbClr val="101C2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a6b93652cd44336"/>
          <a:srcRect xmlns:a="http://schemas.openxmlformats.org/drawingml/2006/main" l="23958" t="0" r="23958" b="0"/>
          <a:stretch xmlns:a="http://schemas.openxmlformats.org/drawingml/2006/main">
            <a:fillRect l="0" t="0" r="0" b="0"/>
          </a:stretch>
        </p:blipFill>
        <p:spPr>
          <a:xfrm xmlns:a="http://schemas.openxmlformats.org/drawingml/2006/main">
            <a:off x="7429500" y="0"/>
            <a:ext cx="47625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01e7122707c4920"/>
          <a:stretch xmlns:a="http://schemas.openxmlformats.org/drawingml/2006/main"/>
        </p:blipFill>
        <p:spPr>
          <a:xfrm xmlns:a="http://schemas.openxmlformats.org/drawingml/2006/main">
            <a:off x="620390" y="381000"/>
            <a:ext cx="530870" cy="55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7F652AC-53A1-465C-956E-7889B7A7C42D}"/>
              </a:ext>
            </a:extLst>
          </p:cNvPr>
          <p:cNvSpPr>
            <a:spLocks xmlns:a="http://schemas.openxmlformats.org/drawingml/2006/main" noGrp="1"/>
          </p:cNvSpPr>
          <p:nvPr/>
        </p:nvSpPr>
        <p:spPr>
          <a:xfrm xmlns:a="http://schemas.openxmlformats.org/drawingml/2006/main">
            <a:off x="13335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GOTHAM CONSULT</a:t>
            </a:r>
          </a:p>
        </p:txBody>
      </p:sp>
      <p:sp>
        <p:nvSpPr>
          <p:cNvPr id="4" name="">
            <a:extLst xmlns:a="http://schemas.openxmlformats.org/drawingml/2006/main">
              <a:ext uri="{FF2B5EF4-FFF2-40B4-BE49-F238E27FC236}">
                <a16:creationId xmlns:a16="http://schemas.microsoft.com/office/drawing/2014/main" id="{19ED6AED-2CE6-48F7-95F8-87F85879C07B}"/>
              </a:ext>
            </a:extLst>
          </p:cNvPr>
          <p:cNvSpPr>
            <a:spLocks xmlns:a="http://schemas.openxmlformats.org/drawingml/2006/main" noGrp="1"/>
          </p:cNvSpPr>
          <p:nvPr/>
        </p:nvSpPr>
        <p:spPr>
          <a:xfrm xmlns:a="http://schemas.openxmlformats.org/drawingml/2006/main">
            <a:off x="609600" y="2009775"/>
            <a:ext cx="647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Alianzas de negocio</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en Ghana</a:t>
            </a:r>
          </a:p>
        </p:txBody>
      </p:sp>
      <p:sp>
        <p:nvSpPr>
          <p:cNvPr id="5" name="">
            <a:extLst xmlns:a="http://schemas.openxmlformats.org/drawingml/2006/main">
              <a:ext uri="{FF2B5EF4-FFF2-40B4-BE49-F238E27FC236}">
                <a16:creationId xmlns:a16="http://schemas.microsoft.com/office/drawing/2014/main" id="{286709D9-E9AC-4049-8E1A-EEF9D3C5E1DF}"/>
              </a:ext>
            </a:extLst>
          </p:cNvPr>
          <p:cNvSpPr>
            <a:spLocks xmlns:a="http://schemas.openxmlformats.org/drawingml/2006/main" noGrp="1"/>
          </p:cNvSpPr>
          <p:nvPr/>
        </p:nvSpPr>
        <p:spPr>
          <a:xfrm xmlns:a="http://schemas.openxmlformats.org/drawingml/2006/main">
            <a:off x="628650" y="4657725"/>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E4E8EF"/>
                </a:solidFill>
                <a:latin typeface="Arial"/>
                <a:ea typeface="Arial"/>
                <a:cs typeface="Arial"/>
              </a:defRPr>
            </a:pPr>
            <a:r>
              <a:rPr sz="2475" b="0">
                <a:solidFill>
                  <a:srgbClr val="E4E8EF"/>
                </a:solidFill>
                <a:latin typeface="Arial"/>
                <a:ea typeface="Arial"/>
                <a:cs typeface="Arial"/>
              </a:rPr>
              <a:t>Asesoría empresarial, tecnología</a:t>
            </a:r>
          </a:p>
          <a:p xmlns:a="http://schemas.openxmlformats.org/drawingml/2006/main">
            <a:pPr>
              <a:defRPr sz="2475" b="0">
                <a:solidFill>
                  <a:srgbClr val="E4E8EF"/>
                </a:solidFill>
                <a:latin typeface="Arial"/>
                <a:ea typeface="Arial"/>
                <a:cs typeface="Arial"/>
              </a:defRPr>
            </a:pPr>
            <a:r>
              <a:rPr sz="2475" b="0">
                <a:solidFill>
                  <a:srgbClr val="E4E8EF"/>
                </a:solidFill>
                <a:latin typeface="Arial"/>
                <a:ea typeface="Arial"/>
                <a:cs typeface="Arial"/>
              </a:rPr>
              <a:t>y proyectos internacionales</a:t>
            </a:r>
          </a:p>
        </p:txBody>
      </p:sp>
      <p:sp>
        <p:nvSpPr>
          <p:cNvPr id="6" name="">
            <a:extLst xmlns:a="http://schemas.openxmlformats.org/drawingml/2006/main">
              <a:ext uri="{FF2B5EF4-FFF2-40B4-BE49-F238E27FC236}">
                <a16:creationId xmlns:a16="http://schemas.microsoft.com/office/drawing/2014/main" id="{2D149A58-C541-4617-A82F-DD5216CF1D25}"/>
              </a:ext>
            </a:extLst>
          </p:cNvPr>
          <p:cNvSpPr>
            <a:spLocks xmlns:a="http://schemas.openxmlformats.org/drawingml/2006/main" noGrp="1"/>
          </p:cNvSpPr>
          <p:nvPr/>
        </p:nvSpPr>
        <p:spPr>
          <a:xfrm xmlns:a="http://schemas.openxmlformats.org/drawingml/2006/main">
            <a:off x="628650" y="6124575"/>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59946"/>
                </a:solidFill>
                <a:latin typeface="Arial"/>
                <a:ea typeface="Arial"/>
                <a:cs typeface="Arial"/>
              </a:defRPr>
            </a:pPr>
            <a:r>
              <a:rPr sz="2100" b="0">
                <a:solidFill>
                  <a:srgbClr val="C59946"/>
                </a:solidFill>
                <a:latin typeface="Arial"/>
                <a:ea typeface="Arial"/>
                <a:cs typeface="Arial"/>
              </a:rPr>
              <a:t>gothamconsult.com</a:t>
            </a:r>
          </a:p>
        </p:txBody>
      </p:sp>
    </p:spTree>
    <p:extLst>
      <p:ext uri="{BB962C8B-B14F-4D97-AF65-F5344CB8AC3E}">
        <p14:creationId xmlns:p14="http://schemas.microsoft.com/office/powerpoint/2010/main" val="1418943953"/>
      </p:ext>
    </p:extLst>
  </p:cSld>
</p:sld>
</file>

<file path=ppt/slides/slide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9A24D4E-2EDA-4840-92FF-5A21669547B1}"/>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A9F1DC9A-1D8A-4C07-9087-7BC67743AFC7}"/>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a:ea typeface="Arial"/>
                <a:cs typeface="Arial"/>
              </a:defRPr>
            </a:pPr>
            <a:r>
              <a:rPr sz="4200" b="1">
                <a:solidFill>
                  <a:srgbClr val="101C2E"/>
                </a:solidFill>
                <a:latin typeface="Arial"/>
                <a:ea typeface="Arial"/>
                <a:cs typeface="Arial"/>
              </a:rPr>
              <a:t>Empresas e inversión</a:t>
            </a:r>
          </a:p>
        </p:txBody>
      </p:sp>
      <p:sp>
        <p:nvSpPr>
          <p:cNvPr id="3" name="">
            <a:extLst xmlns:a="http://schemas.openxmlformats.org/drawingml/2006/main">
              <a:ext uri="{FF2B5EF4-FFF2-40B4-BE49-F238E27FC236}">
                <a16:creationId xmlns:a16="http://schemas.microsoft.com/office/drawing/2014/main" id="{F5583E61-C0A1-4C25-BD78-6E6EDE5DF4C6}"/>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EF82FC5-2E13-4E72-B631-414EB8E09C70}"/>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Creación de empresas y entrada al mercado</a:t>
            </a:r>
          </a:p>
        </p:txBody>
      </p:sp>
      <p:sp>
        <p:nvSpPr>
          <p:cNvPr id="5" name="">
            <a:extLst xmlns:a="http://schemas.openxmlformats.org/drawingml/2006/main">
              <a:ext uri="{FF2B5EF4-FFF2-40B4-BE49-F238E27FC236}">
                <a16:creationId xmlns:a16="http://schemas.microsoft.com/office/drawing/2014/main" id="{C243A86F-F145-4CC0-A12A-04EFF99788AC}"/>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D10C4C30-5D1B-433C-BB92-003BECC34A89}"/>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Planes de negocio y modelos financieros</a:t>
            </a:r>
          </a:p>
        </p:txBody>
      </p:sp>
      <p:sp>
        <p:nvSpPr>
          <p:cNvPr id="7" name="">
            <a:extLst xmlns:a="http://schemas.openxmlformats.org/drawingml/2006/main">
              <a:ext uri="{FF2B5EF4-FFF2-40B4-BE49-F238E27FC236}">
                <a16:creationId xmlns:a16="http://schemas.microsoft.com/office/drawing/2014/main" id="{D427BB0E-286D-44AA-B52B-5C5447E7DB37}"/>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926C0393-68C5-4538-AA54-34FE26AF086B}"/>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Evaluación de socios y proyectos</a:t>
            </a:r>
          </a:p>
        </p:txBody>
      </p:sp>
      <p:sp>
        <p:nvSpPr>
          <p:cNvPr id="9" name="">
            <a:extLst xmlns:a="http://schemas.openxmlformats.org/drawingml/2006/main">
              <a:ext uri="{FF2B5EF4-FFF2-40B4-BE49-F238E27FC236}">
                <a16:creationId xmlns:a16="http://schemas.microsoft.com/office/drawing/2014/main" id="{617393EC-286C-4FD2-A81A-A4F3227D076A}"/>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8998BB29-6A59-420B-B529-C72893D37E6D}"/>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Cumplimiento y apoyo en ESG</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bfead532f7c4829"/>
          <a:srcRect xmlns:a="http://schemas.openxmlformats.org/drawingml/2006/main" l="18815" t="0" r="18815"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1520434677"/>
      </p:ext>
    </p:extLst>
  </p:cSld>
</p:sld>
</file>

<file path=ppt/slides/slide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B4535D-70E1-410D-B417-ACE7A343D93D}"/>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B1D5ED08-AE3C-421C-90A4-B3705B70CD6C}"/>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a:ea typeface="Arial"/>
                <a:cs typeface="Arial"/>
              </a:defRPr>
            </a:pPr>
            <a:r>
              <a:rPr sz="4200" b="1">
                <a:solidFill>
                  <a:srgbClr val="101C2E"/>
                </a:solidFill>
                <a:latin typeface="Arial"/>
                <a:ea typeface="Arial"/>
                <a:cs typeface="Arial"/>
              </a:rPr>
              <a:t>IA, servicios digitales y creativos</a:t>
            </a:r>
          </a:p>
        </p:txBody>
      </p:sp>
      <p:sp>
        <p:nvSpPr>
          <p:cNvPr id="3" name="">
            <a:extLst xmlns:a="http://schemas.openxmlformats.org/drawingml/2006/main">
              <a:ext uri="{FF2B5EF4-FFF2-40B4-BE49-F238E27FC236}">
                <a16:creationId xmlns:a16="http://schemas.microsoft.com/office/drawing/2014/main" id="{26A38EDB-754A-48CA-8898-8427359AFA3A}"/>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8B15606-7D0E-4BC9-B7C9-5A8693242036}"/>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Auditorías de IA y formación de equipos</a:t>
            </a:r>
          </a:p>
        </p:txBody>
      </p:sp>
      <p:sp>
        <p:nvSpPr>
          <p:cNvPr id="5" name="">
            <a:extLst xmlns:a="http://schemas.openxmlformats.org/drawingml/2006/main">
              <a:ext uri="{FF2B5EF4-FFF2-40B4-BE49-F238E27FC236}">
                <a16:creationId xmlns:a16="http://schemas.microsoft.com/office/drawing/2014/main" id="{57E21809-9AA6-4CFA-806C-634A26B0B312}"/>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9F88E191-47CE-454B-A26D-80991C24C561}"/>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Automatización financiera y de informes</a:t>
            </a:r>
          </a:p>
        </p:txBody>
      </p:sp>
      <p:sp>
        <p:nvSpPr>
          <p:cNvPr id="7" name="">
            <a:extLst xmlns:a="http://schemas.openxmlformats.org/drawingml/2006/main">
              <a:ext uri="{FF2B5EF4-FFF2-40B4-BE49-F238E27FC236}">
                <a16:creationId xmlns:a16="http://schemas.microsoft.com/office/drawing/2014/main" id="{EEB12098-97AD-4E74-9D49-94EDD81F6E92}"/>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20F126A6-A47E-4778-BEE7-B88740902A9B}"/>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Sitios web, aplicaciones y alojamiento</a:t>
            </a:r>
          </a:p>
        </p:txBody>
      </p:sp>
      <p:sp>
        <p:nvSpPr>
          <p:cNvPr id="9" name="">
            <a:extLst xmlns:a="http://schemas.openxmlformats.org/drawingml/2006/main">
              <a:ext uri="{FF2B5EF4-FFF2-40B4-BE49-F238E27FC236}">
                <a16:creationId xmlns:a16="http://schemas.microsoft.com/office/drawing/2014/main" id="{69F2ED76-181F-4FE9-A6B8-A1AFD03B0B7F}"/>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8CCD8E64-0506-4B68-B2E4-E79D8E4481D5}"/>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Jingles, anuncios y locuciones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5ad5a4e12cb4750"/>
          <a:srcRect xmlns:a="http://schemas.openxmlformats.org/drawingml/2006/main" l="26611" t="0" r="26611"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454710825"/>
      </p:ext>
    </p:extLst>
  </p:cSld>
</p:sld>
</file>

<file path=ppt/slides/slide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CB376F-AD67-49FE-8976-713D2A61B4BE}"/>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B4052394-2C73-4DB8-85C7-8D2D3F7BA64D}"/>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a:ea typeface="Arial"/>
                <a:cs typeface="Arial"/>
              </a:defRPr>
            </a:pPr>
            <a:r>
              <a:rPr sz="4200" b="1">
                <a:solidFill>
                  <a:srgbClr val="101C2E"/>
                </a:solidFill>
                <a:latin typeface="Arial"/>
                <a:ea typeface="Arial"/>
                <a:cs typeface="Arial"/>
              </a:rPr>
              <a:t>Proyectos y alianzas</a:t>
            </a:r>
          </a:p>
        </p:txBody>
      </p:sp>
      <p:sp>
        <p:nvSpPr>
          <p:cNvPr id="3" name="">
            <a:extLst xmlns:a="http://schemas.openxmlformats.org/drawingml/2006/main">
              <a:ext uri="{FF2B5EF4-FFF2-40B4-BE49-F238E27FC236}">
                <a16:creationId xmlns:a16="http://schemas.microsoft.com/office/drawing/2014/main" id="{75C29D1A-8D52-4286-9637-EAABFA630932}"/>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A76EBB6-0C0C-4CB9-A276-1832E5753AC9}"/>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Energía, minería e infraestructura</a:t>
            </a:r>
          </a:p>
        </p:txBody>
      </p:sp>
      <p:sp>
        <p:nvSpPr>
          <p:cNvPr id="5" name="">
            <a:extLst xmlns:a="http://schemas.openxmlformats.org/drawingml/2006/main">
              <a:ext uri="{FF2B5EF4-FFF2-40B4-BE49-F238E27FC236}">
                <a16:creationId xmlns:a16="http://schemas.microsoft.com/office/drawing/2014/main" id="{B24C0E5C-5E45-4761-96A0-E4247600800F}"/>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885CC1CF-6A1E-4024-97DE-780321CE41DB}"/>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Educación y desarrollo de escuelas</a:t>
            </a:r>
          </a:p>
        </p:txBody>
      </p:sp>
      <p:sp>
        <p:nvSpPr>
          <p:cNvPr id="7" name="">
            <a:extLst xmlns:a="http://schemas.openxmlformats.org/drawingml/2006/main">
              <a:ext uri="{FF2B5EF4-FFF2-40B4-BE49-F238E27FC236}">
                <a16:creationId xmlns:a16="http://schemas.microsoft.com/office/drawing/2014/main" id="{067401DA-38CD-4720-AD6D-F631F90DF6C2}"/>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8692E298-FFBC-4E21-AADF-194E867F590C}"/>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Apoyo a personas mayores y familias</a:t>
            </a:r>
          </a:p>
        </p:txBody>
      </p:sp>
      <p:sp>
        <p:nvSpPr>
          <p:cNvPr id="9" name="">
            <a:extLst xmlns:a="http://schemas.openxmlformats.org/drawingml/2006/main">
              <a:ext uri="{FF2B5EF4-FFF2-40B4-BE49-F238E27FC236}">
                <a16:creationId xmlns:a16="http://schemas.microsoft.com/office/drawing/2014/main" id="{52EA576F-800D-4CB6-835A-B0241949C6E8}"/>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47E77A5E-E8A0-4D97-BA50-037ABC51C844}"/>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Foros, medios y encuentros de inversores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7f0e3f6790641d9"/>
          <a:srcRect xmlns:a="http://schemas.openxmlformats.org/drawingml/2006/main" l="26611" t="0" r="26611"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240903583"/>
      </p:ext>
    </p:extLst>
  </p:cSld>
</p:sld>
</file>

<file path=ppt/slides/slide5.xml><?xml version="1.0" encoding="utf-8"?>
<p:sld xmlns:p="http://schemas.openxmlformats.org/presentationml/2006/main">
  <p:cSld>
    <p:bg>
      <p:bgPr>
        <a:solidFill xmlns:a="http://schemas.openxmlformats.org/drawingml/2006/main">
          <a:srgbClr val="101C2E"/>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3eabfb6ba794779"/>
          <a:stretch xmlns:a="http://schemas.openxmlformats.org/drawingml/2006/main"/>
        </p:blipFill>
        <p:spPr>
          <a:xfrm xmlns:a="http://schemas.openxmlformats.org/drawingml/2006/main">
            <a:off x="620390" y="381000"/>
            <a:ext cx="530870" cy="5524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B723319-14C2-4F7B-8495-AD4C63404504}"/>
              </a:ext>
            </a:extLst>
          </p:cNvPr>
          <p:cNvSpPr>
            <a:spLocks xmlns:a="http://schemas.openxmlformats.org/drawingml/2006/main" noGrp="1"/>
          </p:cNvSpPr>
          <p:nvPr/>
        </p:nvSpPr>
        <p:spPr>
          <a:xfrm xmlns:a="http://schemas.openxmlformats.org/drawingml/2006/main">
            <a:off x="13335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GOTHAM CONSULT</a:t>
            </a:r>
          </a:p>
        </p:txBody>
      </p:sp>
      <p:sp>
        <p:nvSpPr>
          <p:cNvPr id="3" name="">
            <a:extLst xmlns:a="http://schemas.openxmlformats.org/drawingml/2006/main">
              <a:ext uri="{FF2B5EF4-FFF2-40B4-BE49-F238E27FC236}">
                <a16:creationId xmlns:a16="http://schemas.microsoft.com/office/drawing/2014/main" id="{F7391AFE-5046-4725-B3FD-81FDC8202548}"/>
              </a:ext>
            </a:extLst>
          </p:cNvPr>
          <p:cNvSpPr>
            <a:spLocks xmlns:a="http://schemas.openxmlformats.org/drawingml/2006/main" noGrp="1"/>
          </p:cNvSpPr>
          <p:nvPr/>
        </p:nvSpPr>
        <p:spPr>
          <a:xfrm xmlns:a="http://schemas.openxmlformats.org/drawingml/2006/main">
            <a:off x="609600" y="1295400"/>
            <a:ext cx="1100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Sigue en contacto con Gotham</a:t>
            </a:r>
          </a:p>
        </p:txBody>
      </p:sp>
      <p:sp>
        <p:nvSpPr>
          <p:cNvPr id="4" name="">
            <a:extLst xmlns:a="http://schemas.openxmlformats.org/drawingml/2006/main">
              <a:ext uri="{FF2B5EF4-FFF2-40B4-BE49-F238E27FC236}">
                <a16:creationId xmlns:a16="http://schemas.microsoft.com/office/drawing/2014/main" id="{7428E597-1E08-4E47-A331-A80F9B5A2A77}"/>
              </a:ext>
            </a:extLst>
          </p:cNvPr>
          <p:cNvSpPr>
            <a:spLocks xmlns:a="http://schemas.openxmlformats.org/drawingml/2006/main" noGrp="1"/>
          </p:cNvSpPr>
          <p:nvPr/>
        </p:nvSpPr>
        <p:spPr>
          <a:xfrm xmlns:a="http://schemas.openxmlformats.org/drawingml/2006/main">
            <a:off x="1066800" y="227647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Descubre nuestros servicios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5f40f98ea5b4df7"/>
          <a:stretch xmlns:a="http://schemas.openxmlformats.org/drawingml/2006/main"/>
        </p:blipFill>
        <p:spPr>
          <a:xfrm xmlns:a="http://schemas.openxmlformats.org/drawingml/2006/main">
            <a:off x="1352550" y="2895600"/>
            <a:ext cx="3143250"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85E658A-BC6B-4E89-A137-8DF1A1720C7D}"/>
              </a:ext>
            </a:extLst>
          </p:cNvPr>
          <p:cNvSpPr>
            <a:spLocks xmlns:a="http://schemas.openxmlformats.org/drawingml/2006/main" noGrp="1"/>
          </p:cNvSpPr>
          <p:nvPr/>
        </p:nvSpPr>
        <p:spPr>
          <a:xfrm xmlns:a="http://schemas.openxmlformats.org/drawingml/2006/main">
            <a:off x="1257300" y="6191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gothamconsult.com</a:t>
            </a:r>
          </a:p>
        </p:txBody>
      </p:sp>
      <p:sp>
        <p:nvSpPr>
          <p:cNvPr id="7" name="">
            <a:extLst xmlns:a="http://schemas.openxmlformats.org/drawingml/2006/main">
              <a:ext uri="{FF2B5EF4-FFF2-40B4-BE49-F238E27FC236}">
                <a16:creationId xmlns:a16="http://schemas.microsoft.com/office/drawing/2014/main" id="{F001136C-43F4-4B23-8ADF-023189362822}"/>
              </a:ext>
            </a:extLst>
          </p:cNvPr>
          <p:cNvSpPr>
            <a:spLocks xmlns:a="http://schemas.openxmlformats.org/drawingml/2006/main" noGrp="1"/>
          </p:cNvSpPr>
          <p:nvPr/>
        </p:nvSpPr>
        <p:spPr>
          <a:xfrm xmlns:a="http://schemas.openxmlformats.org/drawingml/2006/main">
            <a:off x="6905625" y="227647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Síguenos en LinkedIn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b8de6859c9a4c88"/>
          <a:stretch xmlns:a="http://schemas.openxmlformats.org/drawingml/2006/main"/>
        </p:blipFill>
        <p:spPr>
          <a:xfrm xmlns:a="http://schemas.openxmlformats.org/drawingml/2006/main">
            <a:off x="7191375" y="2895600"/>
            <a:ext cx="3143250" cy="3143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91065D4-FFD8-464E-BE89-97B2C063C6AF}"/>
              </a:ext>
            </a:extLst>
          </p:cNvPr>
          <p:cNvSpPr>
            <a:spLocks xmlns:a="http://schemas.openxmlformats.org/drawingml/2006/main" noGrp="1"/>
          </p:cNvSpPr>
          <p:nvPr/>
        </p:nvSpPr>
        <p:spPr>
          <a:xfrm xmlns:a="http://schemas.openxmlformats.org/drawingml/2006/main">
            <a:off x="7096125" y="6191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Gotham Consult</a:t>
            </a:r>
          </a:p>
        </p:txBody>
      </p:sp>
    </p:spTree>
    <p:extLst>
      <p:ext uri="{BB962C8B-B14F-4D97-AF65-F5344CB8AC3E}">
        <p14:creationId xmlns:p14="http://schemas.microsoft.com/office/powerpoint/2010/main" val="13441596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2026-10-05T17:32:59.9950000Z</dcterms:created>
  <dcterms:modified xsi:type="dcterms:W3CDTF">2026-10-05T17:32:59.9950000Z</dcterms:modified>
</coreProperties>
</file>