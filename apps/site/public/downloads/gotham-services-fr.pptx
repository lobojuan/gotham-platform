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9cc4468b374587" /><Relationship Type="http://schemas.openxmlformats.org/officeDocument/2006/relationships/extended-properties" Target="/docProps/app.xml" Id="R26877e8fe7cb429f" /><Relationship Type="http://schemas.openxmlformats.org/officeDocument/2006/relationships/officeDocument" Target="/ppt/presentation.xml" Id="Ra0fa7eeffcaf4a1f" /></Relationships>
</file>

<file path=ppt/presentation.xml><?xml version="1.0" encoding="utf-8"?>
<p:presentation xmlns:p="http://schemas.openxmlformats.org/presentationml/2006/main">
  <p:sldMasterIdLst>
    <p:sldMasterId xmlns:r="http://schemas.openxmlformats.org/officeDocument/2006/relationships" id="2147483648" r:id="Re821d0ee377b4282"/>
  </p:sldMasterIdLst>
  <p:notesMasterIdLst>
    <p:notesMasterId xmlns:r="http://schemas.openxmlformats.org/officeDocument/2006/relationships" r:id="R41fd0d239c0d4d28"/>
  </p:notesMasterIdLst>
  <p:sldIdLst>
    <p:sldId xmlns:r="http://schemas.openxmlformats.org/officeDocument/2006/relationships" id="256" r:id="R9102e95af1904faf"/>
    <p:sldId xmlns:r="http://schemas.openxmlformats.org/officeDocument/2006/relationships" id="257" r:id="R0858c2654ddf4cb3"/>
    <p:sldId xmlns:r="http://schemas.openxmlformats.org/officeDocument/2006/relationships" id="258" r:id="R09d905b5e1664715"/>
    <p:sldId xmlns:r="http://schemas.openxmlformats.org/officeDocument/2006/relationships" id="259" r:id="R936293f2e4e349dd"/>
    <p:sldId xmlns:r="http://schemas.openxmlformats.org/officeDocument/2006/relationships" id="260" r:id="R9690d645ed5e4a9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7f2cec00d24bed" /><Relationship Type="http://schemas.openxmlformats.org/officeDocument/2006/relationships/slideMaster" Target="/ppt/slideMasters/slideMaster1.xml" Id="Re821d0ee377b4282" /><Relationship Type="http://schemas.openxmlformats.org/officeDocument/2006/relationships/notesMaster" Target="/ppt/notesMasters/notesMaster1.xml" Id="R41fd0d239c0d4d28" /><Relationship Type="http://schemas.openxmlformats.org/officeDocument/2006/relationships/presProps" Target="/ppt/presProps.xml" Id="R704ebbb99a484704" /><Relationship Type="http://schemas.openxmlformats.org/officeDocument/2006/relationships/tableStyles" Target="/ppt/tableStyles.xml" Id="R06e6d9fc09d341c8" /><Relationship Type="http://schemas.openxmlformats.org/officeDocument/2006/relationships/slide" Target="/ppt/slides/slide1.xml" Id="R9102e95af1904faf" /><Relationship Type="http://schemas.openxmlformats.org/officeDocument/2006/relationships/slide" Target="/ppt/slides/slide2.xml" Id="R0858c2654ddf4cb3" /><Relationship Type="http://schemas.openxmlformats.org/officeDocument/2006/relationships/slide" Target="/ppt/slides/slide3.xml" Id="R09d905b5e1664715" /><Relationship Type="http://schemas.openxmlformats.org/officeDocument/2006/relationships/slide" Target="/ppt/slides/slide4.xml" Id="R936293f2e4e349dd" /><Relationship Type="http://schemas.openxmlformats.org/officeDocument/2006/relationships/slide" Target="/ppt/slides/slide5.xml" Id="R9690d645ed5e4a9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ddf8d584bfc4e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6d44b8b04b34f3c" /><Relationship Type="http://schemas.openxmlformats.org/officeDocument/2006/relationships/notesMaster" Target="/ppt/notesMasters/notesMaster1.xml" Id="Rb6847c33f1874e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4cabdd6a3e4cdd" /><Relationship Type="http://schemas.openxmlformats.org/officeDocument/2006/relationships/notesMaster" Target="/ppt/notesMasters/notesMaster1.xml" Id="R70e3db0db40d48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596f6390e2441a" /><Relationship Type="http://schemas.openxmlformats.org/officeDocument/2006/relationships/notesMaster" Target="/ppt/notesMasters/notesMaster1.xml" Id="R3ade1a112a9c43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a7c56d903b24557" /><Relationship Type="http://schemas.openxmlformats.org/officeDocument/2006/relationships/notesMaster" Target="/ppt/notesMasters/notesMaster1.xml" Id="R647e4a2826e543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7003a170114454" /><Relationship Type="http://schemas.openxmlformats.org/officeDocument/2006/relationships/notesMaster" Target="/ppt/notesMasters/notesMaster1.xml" Id="Rd7629cf4fd384f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Gotham Consult as an Accra-based business development and international projects consultancy. Explain that the next slides describe the services already published on the site. Cover photo is the existing Gotham website Airport City image.</a:t>
            </a:r>
          </a:p>
          <a:p xmlns:a="http://schemas.openxmlformats.org/drawingml/2006/main">
            <a:r>
              <a:t>Published service source: https://gothamconsult.com/about</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 the client’s sector and stage. Company setup, investment readiness, market entry and compliance support are delivered with professional partners where required. Do not imply guaranteed funding or regulatory approval.</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live website chatbot as an example if internet is available. Scope each automation with the client. Do not claim that a certified GRA integration, automatic bank feeds or a complete payroll system have already been delivered. Technology image comes from existing website assets.</a:t>
            </a:r>
          </a:p>
          <a:p xmlns:a="http://schemas.openxmlformats.org/drawingml/2006/main">
            <a:r>
              <a:t>Published service source: https://gothamconsult.com/services/ai</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remaining published service areas. Explain that specialist lawyers, geologists and engineers join projects where needed. Family support is practical coordination, not an unsupported medical-service promise. Forum image is an existing public website asset.</a:t>
            </a:r>
          </a:p>
          <a:p xmlns:a="http://schemas.openxmlformats.org/drawingml/2006/main">
            <a:r>
              <a:t>Published service source: https://gothamconsult.com/services</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 this slide on screen after the talk so the audience can scan. The first QR opens the public website, including services, forums and the chatbot. The second opens the LinkedIn company page linked in the website footer. Invite people to follow the page in LinkedIn; scanning alone does not follow an account. Phone: +233 55 041 6627. Email: info@gothamconsult.com.</a:t>
            </a:r>
          </a:p>
          <a:p xmlns:a="http://schemas.openxmlformats.org/drawingml/2006/main">
            <a:r>
              <a:t>Published service source: https://gothamconsult.com/</a:t>
            </a:r>
          </a:p>
          <a:p xmlns:a="http://schemas.openxmlformats.org/drawingml/2006/main">
            <a:r>
              <a:t>Content date: 5 October 2026. No prices, investment returns or delivery guarantees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89e6d4851e4b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15b48677e948bb" /><Relationship Type="http://schemas.openxmlformats.org/officeDocument/2006/relationships/slideLayout" Target="/ppt/slideLayouts/slideLayout1.xml" Id="R4ea5f0c73d9040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a5f0c73d9040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8bf2d27c6d490b" /><Relationship Type="http://schemas.openxmlformats.org/officeDocument/2006/relationships/image" Target="/ppt/media/image.png" Id="R8e3a88bb3a68488c" /><Relationship Type="http://schemas.openxmlformats.org/officeDocument/2006/relationships/image" Target="/ppt/media/image2.png" Id="R96ef5b2c303a4beb" /><Relationship Type="http://schemas.openxmlformats.org/officeDocument/2006/relationships/notesSlide" Target="/ppt/notesSlides/notesSlide1.xml" Id="Re7c7aa4c7b0e41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440f43e5de4240" /><Relationship Type="http://schemas.openxmlformats.org/officeDocument/2006/relationships/image" Target="/ppt/media/image3.png" Id="Rdb7e5d22480e4d40" /><Relationship Type="http://schemas.openxmlformats.org/officeDocument/2006/relationships/notesSlide" Target="/ppt/notesSlides/notesSlide2.xml" Id="Raa6916c7f39447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5912ce14024c5e" /><Relationship Type="http://schemas.openxmlformats.org/officeDocument/2006/relationships/image" Target="/ppt/media/image4.png" Id="R9dec695fa00b4c17" /><Relationship Type="http://schemas.openxmlformats.org/officeDocument/2006/relationships/notesSlide" Target="/ppt/notesSlides/notesSlide3.xml" Id="R80b66565ae6746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39c4cf1f334c8f" /><Relationship Type="http://schemas.openxmlformats.org/officeDocument/2006/relationships/image" Target="/ppt/media/image5.png" Id="R15698d95632e4419" /><Relationship Type="http://schemas.openxmlformats.org/officeDocument/2006/relationships/notesSlide" Target="/ppt/notesSlides/notesSlide4.xml" Id="Ra580abbdfa424c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d03fe499994d97" /><Relationship Type="http://schemas.openxmlformats.org/officeDocument/2006/relationships/image" Target="/ppt/media/image6.png" Id="R5aeb77edcf6845cc" /><Relationship Type="http://schemas.openxmlformats.org/officeDocument/2006/relationships/image" Target="/ppt/media/image7.png" Id="Rdd3d7c87ac304dd4" /><Relationship Type="http://schemas.openxmlformats.org/officeDocument/2006/relationships/image" Target="/ppt/media/image8.png" Id="R84cc1e30c7154cf1" /><Relationship Type="http://schemas.openxmlformats.org/officeDocument/2006/relationships/notesSlide" Target="/ppt/notesSlides/notesSlide5.xml" Id="R99f4be3608b14f83" /></Relationships>
</file>

<file path=ppt/slides/slide1.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e3a88bb3a68488c"/>
          <a:srcRect xmlns:a="http://schemas.openxmlformats.org/drawingml/2006/main" l="23958" t="0" r="23958" b="0"/>
          <a:stretch xmlns:a="http://schemas.openxmlformats.org/drawingml/2006/main">
            <a:fillRect l="0" t="0" r="0" b="0"/>
          </a:stretch>
        </p:blipFill>
        <p:spPr>
          <a:xfrm xmlns:a="http://schemas.openxmlformats.org/drawingml/2006/main">
            <a:off x="7429500" y="0"/>
            <a:ext cx="476250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6ef5b2c303a4beb"/>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731A916-6DE5-4128-BFD9-6169E3407BAD}"/>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4" name="">
            <a:extLst xmlns:a="http://schemas.openxmlformats.org/drawingml/2006/main">
              <a:ext uri="{FF2B5EF4-FFF2-40B4-BE49-F238E27FC236}">
                <a16:creationId xmlns:a16="http://schemas.microsoft.com/office/drawing/2014/main" id="{E920B9CB-F355-4367-A1BB-6E9FCD5E8288}"/>
              </a:ext>
            </a:extLst>
          </p:cNvPr>
          <p:cNvSpPr>
            <a:spLocks xmlns:a="http://schemas.openxmlformats.org/drawingml/2006/main" noGrp="1"/>
          </p:cNvSpPr>
          <p:nvPr/>
        </p:nvSpPr>
        <p:spPr>
          <a:xfrm xmlns:a="http://schemas.openxmlformats.org/drawingml/2006/main">
            <a:off x="609600" y="2009775"/>
            <a:ext cx="6477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Des partenariats</a:t>
            </a:r>
          </a:p>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au Ghana</a:t>
            </a:r>
          </a:p>
        </p:txBody>
      </p:sp>
      <p:sp>
        <p:nvSpPr>
          <p:cNvPr id="5" name="">
            <a:extLst xmlns:a="http://schemas.openxmlformats.org/drawingml/2006/main">
              <a:ext uri="{FF2B5EF4-FFF2-40B4-BE49-F238E27FC236}">
                <a16:creationId xmlns:a16="http://schemas.microsoft.com/office/drawing/2014/main" id="{DE7C6E36-9B01-4452-A768-05CD0AE748FB}"/>
              </a:ext>
            </a:extLst>
          </p:cNvPr>
          <p:cNvSpPr>
            <a:spLocks xmlns:a="http://schemas.openxmlformats.org/drawingml/2006/main" noGrp="1"/>
          </p:cNvSpPr>
          <p:nvPr/>
        </p:nvSpPr>
        <p:spPr>
          <a:xfrm xmlns:a="http://schemas.openxmlformats.org/drawingml/2006/main">
            <a:off x="628650" y="4657725"/>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E4E8EF"/>
                </a:solidFill>
                <a:latin typeface="Arial"/>
                <a:ea typeface="Arial"/>
                <a:cs typeface="Arial"/>
              </a:defRPr>
            </a:pPr>
            <a:r>
              <a:rPr sz="2475" b="0">
                <a:solidFill>
                  <a:srgbClr val="E4E8EF"/>
                </a:solidFill>
                <a:latin typeface="Arial"/>
                <a:ea typeface="Arial"/>
                <a:cs typeface="Arial"/>
              </a:rPr>
              <a:t>Conseil aux entreprises, technologie</a:t>
            </a:r>
          </a:p>
          <a:p xmlns:a="http://schemas.openxmlformats.org/drawingml/2006/main">
            <a:pPr>
              <a:defRPr sz="2475" b="0">
                <a:solidFill>
                  <a:srgbClr val="E4E8EF"/>
                </a:solidFill>
                <a:latin typeface="Arial"/>
                <a:ea typeface="Arial"/>
                <a:cs typeface="Arial"/>
              </a:defRPr>
            </a:pPr>
            <a:r>
              <a:rPr sz="2475" b="0">
                <a:solidFill>
                  <a:srgbClr val="E4E8EF"/>
                </a:solidFill>
                <a:latin typeface="Arial"/>
                <a:ea typeface="Arial"/>
                <a:cs typeface="Arial"/>
              </a:rPr>
              <a:t>et projets internationaux</a:t>
            </a:r>
          </a:p>
        </p:txBody>
      </p:sp>
      <p:sp>
        <p:nvSpPr>
          <p:cNvPr id="6" name="">
            <a:extLst xmlns:a="http://schemas.openxmlformats.org/drawingml/2006/main">
              <a:ext uri="{FF2B5EF4-FFF2-40B4-BE49-F238E27FC236}">
                <a16:creationId xmlns:a16="http://schemas.microsoft.com/office/drawing/2014/main" id="{246B872E-71CB-4FF3-8E71-3BB5BB590374}"/>
              </a:ext>
            </a:extLst>
          </p:cNvPr>
          <p:cNvSpPr>
            <a:spLocks xmlns:a="http://schemas.openxmlformats.org/drawingml/2006/main" noGrp="1"/>
          </p:cNvSpPr>
          <p:nvPr/>
        </p:nvSpPr>
        <p:spPr>
          <a:xfrm xmlns:a="http://schemas.openxmlformats.org/drawingml/2006/main">
            <a:off x="628650" y="6124575"/>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C59946"/>
                </a:solidFill>
                <a:latin typeface="Arial"/>
                <a:ea typeface="Arial"/>
                <a:cs typeface="Arial"/>
              </a:defRPr>
            </a:pPr>
            <a:r>
              <a:rPr sz="2100" b="0">
                <a:solidFill>
                  <a:srgbClr val="C59946"/>
                </a:solidFill>
                <a:latin typeface="Arial"/>
                <a:ea typeface="Arial"/>
                <a:cs typeface="Arial"/>
              </a:rPr>
              <a:t>gothamconsult.com</a:t>
            </a:r>
          </a:p>
        </p:txBody>
      </p:sp>
    </p:spTree>
    <p:extLst>
      <p:ext uri="{BB962C8B-B14F-4D97-AF65-F5344CB8AC3E}">
        <p14:creationId xmlns:p14="http://schemas.microsoft.com/office/powerpoint/2010/main" val="1870976309"/>
      </p:ext>
    </p:extLst>
  </p:cSld>
</p:sld>
</file>

<file path=ppt/slides/slide2.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659172F-958E-4AF8-B2EE-2170C6D68B26}"/>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E17A1D36-4C14-4A91-9885-7E036E6DA3B4}"/>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Entreprises et investissement</a:t>
            </a:r>
          </a:p>
        </p:txBody>
      </p:sp>
      <p:sp>
        <p:nvSpPr>
          <p:cNvPr id="3" name="">
            <a:extLst xmlns:a="http://schemas.openxmlformats.org/drawingml/2006/main">
              <a:ext uri="{FF2B5EF4-FFF2-40B4-BE49-F238E27FC236}">
                <a16:creationId xmlns:a16="http://schemas.microsoft.com/office/drawing/2014/main" id="{83500AC9-523A-4D03-976F-6AD8E678B4FE}"/>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1E64FC4-1140-4590-9F85-E4F5A593A1FD}"/>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Création d’entreprise et accès au marché</a:t>
            </a:r>
          </a:p>
        </p:txBody>
      </p:sp>
      <p:sp>
        <p:nvSpPr>
          <p:cNvPr id="5" name="">
            <a:extLst xmlns:a="http://schemas.openxmlformats.org/drawingml/2006/main">
              <a:ext uri="{FF2B5EF4-FFF2-40B4-BE49-F238E27FC236}">
                <a16:creationId xmlns:a16="http://schemas.microsoft.com/office/drawing/2014/main" id="{F49EA701-8717-44A7-8CAE-F1F39BA694CE}"/>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2C41474E-6930-4A3A-9E4C-3519068BB849}"/>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Plans d’affaires et modèles financiers</a:t>
            </a:r>
          </a:p>
        </p:txBody>
      </p:sp>
      <p:sp>
        <p:nvSpPr>
          <p:cNvPr id="7" name="">
            <a:extLst xmlns:a="http://schemas.openxmlformats.org/drawingml/2006/main">
              <a:ext uri="{FF2B5EF4-FFF2-40B4-BE49-F238E27FC236}">
                <a16:creationId xmlns:a16="http://schemas.microsoft.com/office/drawing/2014/main" id="{D752DDAB-05DF-4F16-B545-17F19A2F6314}"/>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C7BDDEB-C84D-4E17-9C39-044A95D8D0A5}"/>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Vérification des partenaires et projets</a:t>
            </a:r>
          </a:p>
        </p:txBody>
      </p:sp>
      <p:sp>
        <p:nvSpPr>
          <p:cNvPr id="9" name="">
            <a:extLst xmlns:a="http://schemas.openxmlformats.org/drawingml/2006/main">
              <a:ext uri="{FF2B5EF4-FFF2-40B4-BE49-F238E27FC236}">
                <a16:creationId xmlns:a16="http://schemas.microsoft.com/office/drawing/2014/main" id="{9D26F37C-E3FD-4622-9B51-B69FAAC11A68}"/>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E4B9ACD7-DF67-4AB9-94A7-BAABC1FE54FD}"/>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Conformité et accompagnement ESG</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db7e5d22480e4d40"/>
          <a:srcRect xmlns:a="http://schemas.openxmlformats.org/drawingml/2006/main" l="18815" t="0" r="18815"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321383514"/>
      </p:ext>
    </p:extLst>
  </p:cSld>
</p:sld>
</file>

<file path=ppt/slides/slide3.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0E79488-30E7-4FA3-9AE2-4F251327F4EC}"/>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78D38E36-A2C1-4BEF-B99D-F6F1179A3EAF}"/>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IA, numérique et création</a:t>
            </a:r>
          </a:p>
        </p:txBody>
      </p:sp>
      <p:sp>
        <p:nvSpPr>
          <p:cNvPr id="3" name="">
            <a:extLst xmlns:a="http://schemas.openxmlformats.org/drawingml/2006/main">
              <a:ext uri="{FF2B5EF4-FFF2-40B4-BE49-F238E27FC236}">
                <a16:creationId xmlns:a16="http://schemas.microsoft.com/office/drawing/2014/main" id="{E634E215-AC8A-4684-A8E3-755B9B42084A}"/>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0F07176-E626-4066-983F-F4B59EDF1A07}"/>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Audits IA et formation des équipes</a:t>
            </a:r>
          </a:p>
        </p:txBody>
      </p:sp>
      <p:sp>
        <p:nvSpPr>
          <p:cNvPr id="5" name="">
            <a:extLst xmlns:a="http://schemas.openxmlformats.org/drawingml/2006/main">
              <a:ext uri="{FF2B5EF4-FFF2-40B4-BE49-F238E27FC236}">
                <a16:creationId xmlns:a16="http://schemas.microsoft.com/office/drawing/2014/main" id="{C13A4DEF-07F7-41A4-BF67-BCBFED36135A}"/>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E4639494-2E2D-4419-8BCD-8A88E4B33E93}"/>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Automatisation financière et des rapports</a:t>
            </a:r>
          </a:p>
        </p:txBody>
      </p:sp>
      <p:sp>
        <p:nvSpPr>
          <p:cNvPr id="7" name="">
            <a:extLst xmlns:a="http://schemas.openxmlformats.org/drawingml/2006/main">
              <a:ext uri="{FF2B5EF4-FFF2-40B4-BE49-F238E27FC236}">
                <a16:creationId xmlns:a16="http://schemas.microsoft.com/office/drawing/2014/main" id="{F20E3F05-8729-46DF-BEAA-52572C77595D}"/>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11BA89CC-EB49-4B10-9DCF-239580FE9FEC}"/>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Sites web, applications et hébergement</a:t>
            </a:r>
          </a:p>
        </p:txBody>
      </p:sp>
      <p:sp>
        <p:nvSpPr>
          <p:cNvPr id="9" name="">
            <a:extLst xmlns:a="http://schemas.openxmlformats.org/drawingml/2006/main">
              <a:ext uri="{FF2B5EF4-FFF2-40B4-BE49-F238E27FC236}">
                <a16:creationId xmlns:a16="http://schemas.microsoft.com/office/drawing/2014/main" id="{CA7FCAE0-0E92-486E-BF4D-0CFEE6791EAE}"/>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8A6424AF-462A-40B2-9934-4BCC016F16D9}"/>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Jingles, publicités et voix off</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9dec695fa00b4c17"/>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1767942954"/>
      </p:ext>
    </p:extLst>
  </p:cSld>
</p:sld>
</file>

<file path=ppt/slides/slide4.xml><?xml version="1.0" encoding="utf-8"?>
<p:sld xmlns:p="http://schemas.openxmlformats.org/presentationml/2006/main">
  <p:cSld>
    <p:bg>
      <p:bgPr>
        <a:solidFill xmlns:a="http://schemas.openxmlformats.org/drawingml/2006/main">
          <a:srgbClr val="F7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BB5301-9D2F-4819-9517-74647805B621}"/>
              </a:ext>
            </a:extLst>
          </p:cNvPr>
          <p:cNvSpPr>
            <a:spLocks xmlns:a="http://schemas.openxmlformats.org/drawingml/2006/main" noGrp="1"/>
          </p:cNvSpPr>
          <p:nvPr/>
        </p:nvSpPr>
        <p:spPr>
          <a:xfrm xmlns:a="http://schemas.openxmlformats.org/drawingml/2006/main">
            <a:off x="6096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1C2E"/>
                </a:solidFill>
                <a:latin typeface="Arial"/>
                <a:ea typeface="Arial"/>
                <a:cs typeface="Arial"/>
              </a:defRPr>
            </a:pPr>
            <a:r>
              <a:rPr sz="2100" b="1">
                <a:solidFill>
                  <a:srgbClr val="101C2E"/>
                </a:solidFill>
                <a:latin typeface="Arial"/>
                <a:ea typeface="Arial"/>
                <a:cs typeface="Arial"/>
              </a:rPr>
              <a:t>GOTHAM CONSULT</a:t>
            </a:r>
          </a:p>
        </p:txBody>
      </p:sp>
      <p:sp>
        <p:nvSpPr>
          <p:cNvPr id="2" name="">
            <a:extLst xmlns:a="http://schemas.openxmlformats.org/drawingml/2006/main">
              <a:ext uri="{FF2B5EF4-FFF2-40B4-BE49-F238E27FC236}">
                <a16:creationId xmlns:a16="http://schemas.microsoft.com/office/drawing/2014/main" id="{902672B8-DBB5-4AF5-BE75-091F51BFC66C}"/>
              </a:ext>
            </a:extLst>
          </p:cNvPr>
          <p:cNvSpPr>
            <a:spLocks xmlns:a="http://schemas.openxmlformats.org/drawingml/2006/main" noGrp="1"/>
          </p:cNvSpPr>
          <p:nvPr/>
        </p:nvSpPr>
        <p:spPr>
          <a:xfrm xmlns:a="http://schemas.openxmlformats.org/drawingml/2006/main">
            <a:off x="609600" y="1314450"/>
            <a:ext cx="10906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01C2E"/>
                </a:solidFill>
                <a:latin typeface="Arial"/>
                <a:ea typeface="Arial"/>
                <a:cs typeface="Arial"/>
              </a:defRPr>
            </a:pPr>
            <a:r>
              <a:rPr sz="4200" b="1">
                <a:solidFill>
                  <a:srgbClr val="101C2E"/>
                </a:solidFill>
                <a:latin typeface="Arial"/>
                <a:ea typeface="Arial"/>
                <a:cs typeface="Arial"/>
              </a:rPr>
              <a:t>Projets et partenariats</a:t>
            </a:r>
          </a:p>
        </p:txBody>
      </p:sp>
      <p:sp>
        <p:nvSpPr>
          <p:cNvPr id="3" name="">
            <a:extLst xmlns:a="http://schemas.openxmlformats.org/drawingml/2006/main">
              <a:ext uri="{FF2B5EF4-FFF2-40B4-BE49-F238E27FC236}">
                <a16:creationId xmlns:a16="http://schemas.microsoft.com/office/drawing/2014/main" id="{F8F3CF73-12BA-40D0-9337-BDAC75081E6E}"/>
              </a:ext>
            </a:extLst>
          </p:cNvPr>
          <p:cNvSpPr>
            <a:spLocks xmlns:a="http://schemas.openxmlformats.org/drawingml/2006/main" noGrp="1"/>
          </p:cNvSpPr>
          <p:nvPr/>
        </p:nvSpPr>
        <p:spPr>
          <a:xfrm xmlns:a="http://schemas.openxmlformats.org/drawingml/2006/main">
            <a:off x="609600" y="26479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3590EB30-ED68-4744-B1ED-E45456D608F9}"/>
              </a:ext>
            </a:extLst>
          </p:cNvPr>
          <p:cNvSpPr>
            <a:spLocks xmlns:a="http://schemas.openxmlformats.org/drawingml/2006/main" noGrp="1"/>
          </p:cNvSpPr>
          <p:nvPr/>
        </p:nvSpPr>
        <p:spPr>
          <a:xfrm xmlns:a="http://schemas.openxmlformats.org/drawingml/2006/main">
            <a:off x="1362075" y="25812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Énergie, mines et infrastructures</a:t>
            </a:r>
          </a:p>
        </p:txBody>
      </p:sp>
      <p:sp>
        <p:nvSpPr>
          <p:cNvPr id="5" name="">
            <a:extLst xmlns:a="http://schemas.openxmlformats.org/drawingml/2006/main">
              <a:ext uri="{FF2B5EF4-FFF2-40B4-BE49-F238E27FC236}">
                <a16:creationId xmlns:a16="http://schemas.microsoft.com/office/drawing/2014/main" id="{95439C74-161E-4226-984D-A335117A6D5F}"/>
              </a:ext>
            </a:extLst>
          </p:cNvPr>
          <p:cNvSpPr>
            <a:spLocks xmlns:a="http://schemas.openxmlformats.org/drawingml/2006/main" noGrp="1"/>
          </p:cNvSpPr>
          <p:nvPr/>
        </p:nvSpPr>
        <p:spPr>
          <a:xfrm xmlns:a="http://schemas.openxmlformats.org/drawingml/2006/main">
            <a:off x="609600" y="34861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6F1D758E-489A-493D-AC7E-1B60D2B763A7}"/>
              </a:ext>
            </a:extLst>
          </p:cNvPr>
          <p:cNvSpPr>
            <a:spLocks xmlns:a="http://schemas.openxmlformats.org/drawingml/2006/main" noGrp="1"/>
          </p:cNvSpPr>
          <p:nvPr/>
        </p:nvSpPr>
        <p:spPr>
          <a:xfrm xmlns:a="http://schemas.openxmlformats.org/drawingml/2006/main">
            <a:off x="1362075" y="34194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Éducation et développement des écoles</a:t>
            </a:r>
          </a:p>
        </p:txBody>
      </p:sp>
      <p:sp>
        <p:nvSpPr>
          <p:cNvPr id="7" name="">
            <a:extLst xmlns:a="http://schemas.openxmlformats.org/drawingml/2006/main">
              <a:ext uri="{FF2B5EF4-FFF2-40B4-BE49-F238E27FC236}">
                <a16:creationId xmlns:a16="http://schemas.microsoft.com/office/drawing/2014/main" id="{E40DE0DF-2DAB-4129-B675-D40F6DEA19CF}"/>
              </a:ext>
            </a:extLst>
          </p:cNvPr>
          <p:cNvSpPr>
            <a:spLocks xmlns:a="http://schemas.openxmlformats.org/drawingml/2006/main" noGrp="1"/>
          </p:cNvSpPr>
          <p:nvPr/>
        </p:nvSpPr>
        <p:spPr>
          <a:xfrm xmlns:a="http://schemas.openxmlformats.org/drawingml/2006/main">
            <a:off x="609600" y="43243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988393F5-33ED-457F-BF05-69FA3882BB20}"/>
              </a:ext>
            </a:extLst>
          </p:cNvPr>
          <p:cNvSpPr>
            <a:spLocks xmlns:a="http://schemas.openxmlformats.org/drawingml/2006/main" noGrp="1"/>
          </p:cNvSpPr>
          <p:nvPr/>
        </p:nvSpPr>
        <p:spPr>
          <a:xfrm xmlns:a="http://schemas.openxmlformats.org/drawingml/2006/main">
            <a:off x="1362075" y="42576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Soutien aux seniors et aux familles</a:t>
            </a:r>
          </a:p>
        </p:txBody>
      </p:sp>
      <p:sp>
        <p:nvSpPr>
          <p:cNvPr id="9" name="">
            <a:extLst xmlns:a="http://schemas.openxmlformats.org/drawingml/2006/main">
              <a:ext uri="{FF2B5EF4-FFF2-40B4-BE49-F238E27FC236}">
                <a16:creationId xmlns:a16="http://schemas.microsoft.com/office/drawing/2014/main" id="{66153C8B-9A38-4575-98F6-0D475C58CFE0}"/>
              </a:ext>
            </a:extLst>
          </p:cNvPr>
          <p:cNvSpPr>
            <a:spLocks xmlns:a="http://schemas.openxmlformats.org/drawingml/2006/main" noGrp="1"/>
          </p:cNvSpPr>
          <p:nvPr/>
        </p:nvSpPr>
        <p:spPr>
          <a:xfrm xmlns:a="http://schemas.openxmlformats.org/drawingml/2006/main">
            <a:off x="609600" y="5162550"/>
            <a:ext cx="523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59946"/>
                </a:solidFill>
                <a:latin typeface="Arial"/>
                <a:ea typeface="Arial"/>
                <a:cs typeface="Arial"/>
              </a:defRPr>
            </a:pPr>
            <a:r>
              <a:rPr sz="1950" b="1">
                <a:solidFill>
                  <a:srgbClr val="C59946"/>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0531CAD2-C5C1-481B-88C5-47782E936373}"/>
              </a:ext>
            </a:extLst>
          </p:cNvPr>
          <p:cNvSpPr>
            <a:spLocks xmlns:a="http://schemas.openxmlformats.org/drawingml/2006/main" noGrp="1"/>
          </p:cNvSpPr>
          <p:nvPr/>
        </p:nvSpPr>
        <p:spPr>
          <a:xfrm xmlns:a="http://schemas.openxmlformats.org/drawingml/2006/main">
            <a:off x="1362075" y="5095875"/>
            <a:ext cx="647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1C2E"/>
                </a:solidFill>
                <a:latin typeface="Arial"/>
                <a:ea typeface="Arial"/>
                <a:cs typeface="Arial"/>
              </a:defRPr>
            </a:pPr>
            <a:r>
              <a:rPr sz="2325" b="0">
                <a:solidFill>
                  <a:srgbClr val="101C2E"/>
                </a:solidFill>
                <a:latin typeface="Arial"/>
                <a:ea typeface="Arial"/>
                <a:cs typeface="Arial"/>
              </a:rPr>
              <a:t>Forums, médias et rencontres d’investisseurs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5698d95632e4419"/>
          <a:srcRect xmlns:a="http://schemas.openxmlformats.org/drawingml/2006/main" l="26611" t="0" r="26611" b="0"/>
          <a:stretch xmlns:a="http://schemas.openxmlformats.org/drawingml/2006/main">
            <a:fillRect l="0" t="0" r="0" b="0"/>
          </a:stretch>
        </p:blipFill>
        <p:spPr>
          <a:xfrm xmlns:a="http://schemas.openxmlformats.org/drawingml/2006/main">
            <a:off x="8524875" y="2476500"/>
            <a:ext cx="3057525" cy="3676650"/>
          </a:xfrm>
          <a:prstGeom xmlns:a="http://schemas.openxmlformats.org/drawingml/2006/main" prst="rect">
            <a:avLst/>
          </a:prstGeom>
        </p:spPr>
      </p:pic>
    </p:spTree>
    <p:extLst>
      <p:ext uri="{BB962C8B-B14F-4D97-AF65-F5344CB8AC3E}">
        <p14:creationId xmlns:p14="http://schemas.microsoft.com/office/powerpoint/2010/main" val="1222209636"/>
      </p:ext>
    </p:extLst>
  </p:cSld>
</p:sld>
</file>

<file path=ppt/slides/slide5.xml><?xml version="1.0" encoding="utf-8"?>
<p:sld xmlns:p="http://schemas.openxmlformats.org/presentationml/2006/main">
  <p:cSld>
    <p:bg>
      <p:bgPr>
        <a:solidFill xmlns:a="http://schemas.openxmlformats.org/drawingml/2006/main">
          <a:srgbClr val="101C2E"/>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aeb77edcf6845cc"/>
          <a:stretch xmlns:a="http://schemas.openxmlformats.org/drawingml/2006/main"/>
        </p:blipFill>
        <p:spPr>
          <a:xfrm xmlns:a="http://schemas.openxmlformats.org/drawingml/2006/main">
            <a:off x="620390" y="381000"/>
            <a:ext cx="530870" cy="5524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8B0382-211C-4198-A75B-A4C3621ED61D}"/>
              </a:ext>
            </a:extLst>
          </p:cNvPr>
          <p:cNvSpPr>
            <a:spLocks xmlns:a="http://schemas.openxmlformats.org/drawingml/2006/main" noGrp="1"/>
          </p:cNvSpPr>
          <p:nvPr/>
        </p:nvSpPr>
        <p:spPr>
          <a:xfrm xmlns:a="http://schemas.openxmlformats.org/drawingml/2006/main">
            <a:off x="1333500" y="47625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GOTHAM CONSULT</a:t>
            </a:r>
          </a:p>
        </p:txBody>
      </p:sp>
      <p:sp>
        <p:nvSpPr>
          <p:cNvPr id="3" name="">
            <a:extLst xmlns:a="http://schemas.openxmlformats.org/drawingml/2006/main">
              <a:ext uri="{FF2B5EF4-FFF2-40B4-BE49-F238E27FC236}">
                <a16:creationId xmlns:a16="http://schemas.microsoft.com/office/drawing/2014/main" id="{03CB8C03-1FCB-4497-B18E-05CF831ADE95}"/>
              </a:ext>
            </a:extLst>
          </p:cNvPr>
          <p:cNvSpPr>
            <a:spLocks xmlns:a="http://schemas.openxmlformats.org/drawingml/2006/main" noGrp="1"/>
          </p:cNvSpPr>
          <p:nvPr/>
        </p:nvSpPr>
        <p:spPr>
          <a:xfrm xmlns:a="http://schemas.openxmlformats.org/drawingml/2006/main">
            <a:off x="609600" y="1295400"/>
            <a:ext cx="1100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FFFFFF"/>
                </a:solidFill>
                <a:latin typeface="Arial"/>
                <a:ea typeface="Arial"/>
                <a:cs typeface="Arial"/>
              </a:defRPr>
            </a:pPr>
            <a:r>
              <a:rPr sz="4050" b="1">
                <a:solidFill>
                  <a:srgbClr val="FFFFFF"/>
                </a:solidFill>
                <a:latin typeface="Arial"/>
                <a:ea typeface="Arial"/>
                <a:cs typeface="Arial"/>
              </a:rPr>
              <a:t>Restons en contact avec Gotham</a:t>
            </a:r>
          </a:p>
        </p:txBody>
      </p:sp>
      <p:sp>
        <p:nvSpPr>
          <p:cNvPr id="4" name="">
            <a:extLst xmlns:a="http://schemas.openxmlformats.org/drawingml/2006/main">
              <a:ext uri="{FF2B5EF4-FFF2-40B4-BE49-F238E27FC236}">
                <a16:creationId xmlns:a16="http://schemas.microsoft.com/office/drawing/2014/main" id="{B96D2CAA-E283-42EA-AFFF-7D183E8ADB2A}"/>
              </a:ext>
            </a:extLst>
          </p:cNvPr>
          <p:cNvSpPr>
            <a:spLocks xmlns:a="http://schemas.openxmlformats.org/drawingml/2006/main" noGrp="1"/>
          </p:cNvSpPr>
          <p:nvPr/>
        </p:nvSpPr>
        <p:spPr>
          <a:xfrm xmlns:a="http://schemas.openxmlformats.org/drawingml/2006/main">
            <a:off x="1066800"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Découvrez nos services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d3d7c87ac304dd4"/>
          <a:stretch xmlns:a="http://schemas.openxmlformats.org/drawingml/2006/main"/>
        </p:blipFill>
        <p:spPr>
          <a:xfrm xmlns:a="http://schemas.openxmlformats.org/drawingml/2006/main">
            <a:off x="1352550" y="2895600"/>
            <a:ext cx="3143250"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73FECB1-D526-4C9C-8708-C29813BD760A}"/>
              </a:ext>
            </a:extLst>
          </p:cNvPr>
          <p:cNvSpPr>
            <a:spLocks xmlns:a="http://schemas.openxmlformats.org/drawingml/2006/main" noGrp="1"/>
          </p:cNvSpPr>
          <p:nvPr/>
        </p:nvSpPr>
        <p:spPr>
          <a:xfrm xmlns:a="http://schemas.openxmlformats.org/drawingml/2006/main">
            <a:off x="1257300"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gothamconsult.com</a:t>
            </a:r>
          </a:p>
        </p:txBody>
      </p:sp>
      <p:sp>
        <p:nvSpPr>
          <p:cNvPr id="7" name="">
            <a:extLst xmlns:a="http://schemas.openxmlformats.org/drawingml/2006/main">
              <a:ext uri="{FF2B5EF4-FFF2-40B4-BE49-F238E27FC236}">
                <a16:creationId xmlns:a16="http://schemas.microsoft.com/office/drawing/2014/main" id="{CE46286D-A402-4C15-81FE-BC7978159022}"/>
              </a:ext>
            </a:extLst>
          </p:cNvPr>
          <p:cNvSpPr>
            <a:spLocks xmlns:a="http://schemas.openxmlformats.org/drawingml/2006/main" noGrp="1"/>
          </p:cNvSpPr>
          <p:nvPr/>
        </p:nvSpPr>
        <p:spPr>
          <a:xfrm xmlns:a="http://schemas.openxmlformats.org/drawingml/2006/main">
            <a:off x="6905625" y="227647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Suivez-nous sur LinkedIn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4cc1e30c7154cf1"/>
          <a:stretch xmlns:a="http://schemas.openxmlformats.org/drawingml/2006/main"/>
        </p:blipFill>
        <p:spPr>
          <a:xfrm xmlns:a="http://schemas.openxmlformats.org/drawingml/2006/main">
            <a:off x="7191375" y="2895600"/>
            <a:ext cx="3143250" cy="3143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786850B2-FA62-427C-91D2-F9296C7EFFBA}"/>
              </a:ext>
            </a:extLst>
          </p:cNvPr>
          <p:cNvSpPr>
            <a:spLocks xmlns:a="http://schemas.openxmlformats.org/drawingml/2006/main" noGrp="1"/>
          </p:cNvSpPr>
          <p:nvPr/>
        </p:nvSpPr>
        <p:spPr>
          <a:xfrm xmlns:a="http://schemas.openxmlformats.org/drawingml/2006/main">
            <a:off x="7096125" y="61912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Arial"/>
                <a:ea typeface="Arial"/>
                <a:cs typeface="Arial"/>
              </a:defRPr>
            </a:pPr>
            <a:r>
              <a:rPr sz="1950" b="0">
                <a:solidFill>
                  <a:srgbClr val="FFFFFF"/>
                </a:solidFill>
                <a:latin typeface="Arial"/>
                <a:ea typeface="Arial"/>
                <a:cs typeface="Arial"/>
              </a:rPr>
              <a:t>Gotham Consult</a:t>
            </a:r>
          </a:p>
        </p:txBody>
      </p:sp>
    </p:spTree>
    <p:extLst>
      <p:ext uri="{BB962C8B-B14F-4D97-AF65-F5344CB8AC3E}">
        <p14:creationId xmlns:p14="http://schemas.microsoft.com/office/powerpoint/2010/main" val="1968153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2026-10-05T17:32:58.1980000Z</dcterms:created>
  <dcterms:modified xsi:type="dcterms:W3CDTF">2026-10-05T17:32:58.1980000Z</dcterms:modified>
</coreProperties>
</file>